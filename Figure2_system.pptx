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</p:sldIdLst>
  <p:sldSz cx="12188825" cy="60356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16525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50" d="100"/>
          <a:sy n="150" d="100"/>
        </p:scale>
        <p:origin x="504" y="5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103120" y="411480"/>
            <a:ext cx="10085832" cy="1188720"/>
          </a:xfrm>
          <a:prstGeom prst="rect">
            <a:avLst/>
          </a:prstGeom>
          <a:solidFill>
            <a:srgbClr val="C9CED4"/>
          </a:solidFill>
          <a:ln w="20320">
            <a:solidFill>
              <a:srgbClr val="3A4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480560" y="438912"/>
            <a:ext cx="1280160" cy="274320"/>
          </a:xfrm>
          <a:prstGeom prst="rect">
            <a:avLst/>
          </a:prstGeom>
          <a:solidFill>
            <a:srgbClr val="B9C0C8"/>
          </a:solidFill>
          <a:ln w="12700">
            <a:solidFill>
              <a:srgbClr val="3A4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0" y="438912"/>
            <a:ext cx="1097280" cy="274320"/>
          </a:xfrm>
          <a:prstGeom prst="rect">
            <a:avLst/>
          </a:prstGeom>
          <a:solidFill>
            <a:srgbClr val="B9C0C8"/>
          </a:solidFill>
          <a:ln w="12700">
            <a:solidFill>
              <a:srgbClr val="3A4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412480" y="438912"/>
            <a:ext cx="2011680" cy="274320"/>
          </a:xfrm>
          <a:prstGeom prst="rect">
            <a:avLst/>
          </a:prstGeom>
          <a:solidFill>
            <a:srgbClr val="B9C0C8"/>
          </a:solidFill>
          <a:ln w="12700">
            <a:solidFill>
              <a:srgbClr val="3A4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760720" y="1069848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555F6B"/>
                </a:solidFill>
                <a:latin typeface="Arial"/>
              </a:rPr>
              <a:t>Mothership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212080" y="228600"/>
            <a:ext cx="2743200" cy="0"/>
          </a:xfrm>
          <a:prstGeom prst="line">
            <a:avLst/>
          </a:prstGeom>
          <a:ln w="38100">
            <a:solidFill>
              <a:srgbClr val="3040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663440" y="-155448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304055"/>
                </a:solidFill>
                <a:latin typeface="Arial"/>
              </a:rPr>
              <a:t>Vₛ   (mothership advances)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1609344"/>
            <a:ext cx="12188952" cy="91440"/>
          </a:xfrm>
          <a:prstGeom prst="rect">
            <a:avLst/>
          </a:prstGeom>
          <a:solidFill>
            <a:srgbClr val="FBE9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0" y="1700784"/>
            <a:ext cx="12188952" cy="0"/>
          </a:xfrm>
          <a:prstGeom prst="line">
            <a:avLst/>
          </a:prstGeom>
          <a:ln w="33020">
            <a:solidFill>
              <a:srgbClr val="E8A33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20040" y="169164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 i="1">
                <a:solidFill>
                  <a:srgbClr val="E8A33D"/>
                </a:solidFill>
                <a:latin typeface="Arial"/>
              </a:rPr>
              <a:t>mothership side boundary  ∈ 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2157984"/>
            <a:ext cx="5943600" cy="1408176"/>
          </a:xfrm>
          <a:custGeom>
            <a:avLst/>
            <a:gdLst/>
            <a:ahLst/>
            <a:cxnLst/>
            <a:rect l="0" t="0" r="5943600" b="1408176"/>
            <a:pathLst>
              <a:path w="5943600" h="1408176">
                <a:moveTo>
                  <a:pt x="45720" y="813816"/>
                </a:moveTo>
                <a:cubicBezTo>
                  <a:pt x="0" y="310896"/>
                  <a:pt x="502920" y="36576"/>
                  <a:pt x="1463040" y="18288"/>
                </a:cubicBezTo>
                <a:cubicBezTo>
                  <a:pt x="2926080" y="0"/>
                  <a:pt x="4434840" y="219456"/>
                  <a:pt x="5943600" y="493776"/>
                </a:cubicBezTo>
                <a:cubicBezTo>
                  <a:pt x="4434840" y="768096"/>
                  <a:pt x="2834640" y="1362456"/>
                  <a:pt x="1463040" y="1408176"/>
                </a:cubicBezTo>
                <a:cubicBezTo>
                  <a:pt x="502920" y="1408176"/>
                  <a:pt x="91440" y="1179576"/>
                  <a:pt x="45720" y="813816"/>
                </a:cubicBezTo>
                <a:close/>
              </a:path>
            </a:pathLst>
          </a:custGeom>
          <a:solidFill>
            <a:srgbClr val="BFE0B8">
              <a:alpha val="42000"/>
            </a:srgbClr>
          </a:solidFill>
          <a:ln w="25400">
            <a:solidFill>
              <a:srgbClr val="3E8E3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08960" y="3410712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50" b="0" i="1">
                <a:solidFill>
                  <a:srgbClr val="3E8E3E"/>
                </a:solidFill>
                <a:latin typeface="Arial"/>
              </a:rPr>
              <a:t>reach avoid set  (V(s) ≤ 0)</a:t>
            </a:r>
          </a:p>
        </p:txBody>
      </p:sp>
      <p:sp>
        <p:nvSpPr>
          <p:cNvPr id="14" name="Freeform 13"/>
          <p:cNvSpPr/>
          <p:nvPr/>
        </p:nvSpPr>
        <p:spPr>
          <a:xfrm>
            <a:off x="868680" y="2816352"/>
            <a:ext cx="4526280" cy="932688"/>
          </a:xfrm>
          <a:custGeom>
            <a:avLst/>
            <a:gdLst/>
            <a:ahLst/>
            <a:cxnLst/>
            <a:rect l="l" t="t" r="r" b="b"/>
            <a:pathLst>
              <a:path w="4526280" h="932688">
                <a:moveTo>
                  <a:pt x="0" y="932688"/>
                </a:moveTo>
                <a:lnTo>
                  <a:pt x="960120" y="658368"/>
                </a:lnTo>
                <a:lnTo>
                  <a:pt x="2057400" y="365760"/>
                </a:lnTo>
                <a:lnTo>
                  <a:pt x="3063240" y="146304"/>
                </a:lnTo>
                <a:lnTo>
                  <a:pt x="4160520" y="18288"/>
                </a:lnTo>
                <a:lnTo>
                  <a:pt x="4526280" y="0"/>
                </a:lnTo>
              </a:path>
            </a:pathLst>
          </a:custGeom>
          <a:noFill/>
          <a:ln w="38100">
            <a:solidFill>
              <a:srgbClr val="2E6DA4"/>
            </a:solidFill>
            <a:prstDash val="dash"/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5715000" y="2615184"/>
            <a:ext cx="4297680" cy="182880"/>
          </a:xfrm>
          <a:custGeom>
            <a:avLst/>
            <a:gdLst/>
            <a:ahLst/>
            <a:cxnLst/>
            <a:rect l="l" t="t" r="r" b="b"/>
            <a:pathLst>
              <a:path w="4297680" h="182880">
                <a:moveTo>
                  <a:pt x="0" y="182880"/>
                </a:moveTo>
                <a:lnTo>
                  <a:pt x="1234440" y="109728"/>
                </a:lnTo>
                <a:lnTo>
                  <a:pt x="2423160" y="54864"/>
                </a:lnTo>
                <a:lnTo>
                  <a:pt x="3611880" y="18288"/>
                </a:lnTo>
                <a:lnTo>
                  <a:pt x="4297680" y="0"/>
                </a:lnTo>
              </a:path>
            </a:pathLst>
          </a:custGeom>
          <a:noFill/>
          <a:ln w="38100">
            <a:solidFill>
              <a:srgbClr val="C0392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5248656" y="2715768"/>
            <a:ext cx="201168" cy="2011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33333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321808" y="2788920"/>
            <a:ext cx="54864" cy="54864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0" y="2295144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2E6DA4"/>
                </a:solidFill>
                <a:latin typeface="Arial"/>
              </a:rPr>
              <a:t>DP point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94976" y="2148840"/>
            <a:ext cx="1170432" cy="932688"/>
          </a:xfrm>
          <a:prstGeom prst="roundRect">
            <a:avLst/>
          </a:prstGeom>
          <a:noFill/>
          <a:ln w="38100">
            <a:solidFill>
              <a:srgbClr val="7C7C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948672" y="1737360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333333"/>
                </a:solidFill>
                <a:latin typeface="Arial"/>
              </a:rPr>
              <a:t>Cradle</a:t>
            </a:r>
          </a:p>
        </p:txBody>
      </p:sp>
      <p:sp>
        <p:nvSpPr>
          <p:cNvPr id="21" name="Freeform 20"/>
          <p:cNvSpPr/>
          <p:nvPr/>
        </p:nvSpPr>
        <p:spPr>
          <a:xfrm>
            <a:off x="778136" y="3557554"/>
            <a:ext cx="602672" cy="462677"/>
          </a:xfrm>
          <a:custGeom>
            <a:avLst/>
            <a:gdLst/>
            <a:ahLst/>
            <a:cxnLst/>
            <a:rect l="l" t="t" r="r" b="b"/>
            <a:pathLst>
              <a:path w="602672" h="462677">
                <a:moveTo>
                  <a:pt x="0" y="169372"/>
                </a:moveTo>
                <a:lnTo>
                  <a:pt x="332412" y="0"/>
                </a:lnTo>
                <a:lnTo>
                  <a:pt x="602672" y="47021"/>
                </a:lnTo>
                <a:lnTo>
                  <a:pt x="481859" y="293305"/>
                </a:lnTo>
                <a:lnTo>
                  <a:pt x="149446" y="462677"/>
                </a:lnTo>
                <a:close/>
              </a:path>
            </a:pathLst>
          </a:custGeom>
          <a:solidFill>
            <a:srgbClr val="EAF2FA"/>
          </a:solidFill>
          <a:ln w="2159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Freeform 21"/>
          <p:cNvSpPr/>
          <p:nvPr/>
        </p:nvSpPr>
        <p:spPr>
          <a:xfrm>
            <a:off x="976908" y="3655601"/>
            <a:ext cx="211413" cy="201822"/>
          </a:xfrm>
          <a:custGeom>
            <a:avLst/>
            <a:gdLst/>
            <a:ahLst/>
            <a:cxnLst/>
            <a:rect l="l" t="t" r="r" b="b"/>
            <a:pathLst>
              <a:path w="211413" h="201822">
                <a:moveTo>
                  <a:pt x="0" y="74723"/>
                </a:moveTo>
                <a:lnTo>
                  <a:pt x="146653" y="0"/>
                </a:lnTo>
                <a:lnTo>
                  <a:pt x="211413" y="127099"/>
                </a:lnTo>
                <a:lnTo>
                  <a:pt x="64761" y="201822"/>
                </a:lnTo>
                <a:close/>
              </a:path>
            </a:pathLst>
          </a:custGeom>
          <a:solidFill>
            <a:srgbClr val="9DC3E6"/>
          </a:solidFill>
          <a:ln w="6350">
            <a:solidFill>
              <a:srgbClr val="9DC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Freeform 22"/>
          <p:cNvSpPr/>
          <p:nvPr/>
        </p:nvSpPr>
        <p:spPr>
          <a:xfrm>
            <a:off x="2333582" y="3100933"/>
            <a:ext cx="606575" cy="456011"/>
          </a:xfrm>
          <a:custGeom>
            <a:avLst/>
            <a:gdLst/>
            <a:ahLst/>
            <a:cxnLst/>
            <a:rect l="l" t="t" r="r" b="b"/>
            <a:pathLst>
              <a:path w="606575" h="456011">
                <a:moveTo>
                  <a:pt x="0" y="157669"/>
                </a:moveTo>
                <a:lnTo>
                  <a:pt x="338121" y="0"/>
                </a:lnTo>
                <a:lnTo>
                  <a:pt x="606575" y="56425"/>
                </a:lnTo>
                <a:lnTo>
                  <a:pt x="477240" y="298342"/>
                </a:lnTo>
                <a:lnTo>
                  <a:pt x="139119" y="456011"/>
                </a:lnTo>
                <a:close/>
              </a:path>
            </a:pathLst>
          </a:custGeom>
          <a:solidFill>
            <a:srgbClr val="EAF2FA"/>
          </a:solidFill>
          <a:ln w="2159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Freeform 23"/>
          <p:cNvSpPr/>
          <p:nvPr/>
        </p:nvSpPr>
        <p:spPr>
          <a:xfrm>
            <a:off x="2532115" y="3199375"/>
            <a:ext cx="209456" cy="198842"/>
          </a:xfrm>
          <a:custGeom>
            <a:avLst/>
            <a:gdLst/>
            <a:ahLst/>
            <a:cxnLst/>
            <a:rect l="l" t="t" r="r" b="b"/>
            <a:pathLst>
              <a:path w="209456" h="198842">
                <a:moveTo>
                  <a:pt x="0" y="69560"/>
                </a:moveTo>
                <a:lnTo>
                  <a:pt x="149171" y="0"/>
                </a:lnTo>
                <a:lnTo>
                  <a:pt x="209456" y="129282"/>
                </a:lnTo>
                <a:lnTo>
                  <a:pt x="60285" y="198842"/>
                </a:lnTo>
                <a:close/>
              </a:path>
            </a:pathLst>
          </a:custGeom>
          <a:solidFill>
            <a:srgbClr val="9DC3E6"/>
          </a:solidFill>
          <a:ln w="6350">
            <a:solidFill>
              <a:srgbClr val="9DC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Freeform 24"/>
          <p:cNvSpPr/>
          <p:nvPr/>
        </p:nvSpPr>
        <p:spPr>
          <a:xfrm>
            <a:off x="7764162" y="2500513"/>
            <a:ext cx="600333" cy="348258"/>
          </a:xfrm>
          <a:custGeom>
            <a:avLst/>
            <a:gdLst/>
            <a:ahLst/>
            <a:cxnLst/>
            <a:rect l="l" t="t" r="r" b="b"/>
            <a:pathLst>
              <a:path w="600333" h="348258">
                <a:moveTo>
                  <a:pt x="0" y="19525"/>
                </a:moveTo>
                <a:lnTo>
                  <a:pt x="372564" y="0"/>
                </a:lnTo>
                <a:lnTo>
                  <a:pt x="600333" y="152881"/>
                </a:lnTo>
                <a:lnTo>
                  <a:pt x="389792" y="328733"/>
                </a:lnTo>
                <a:lnTo>
                  <a:pt x="17228" y="348258"/>
                </a:lnTo>
                <a:close/>
              </a:path>
            </a:pathLst>
          </a:custGeom>
          <a:solidFill>
            <a:srgbClr val="F6D9D5"/>
          </a:solidFill>
          <a:ln w="2159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reeform 25"/>
          <p:cNvSpPr/>
          <p:nvPr/>
        </p:nvSpPr>
        <p:spPr>
          <a:xfrm>
            <a:off x="7944367" y="2595377"/>
            <a:ext cx="171832" cy="151065"/>
          </a:xfrm>
          <a:custGeom>
            <a:avLst/>
            <a:gdLst/>
            <a:ahLst/>
            <a:cxnLst/>
            <a:rect l="l" t="t" r="r" b="b"/>
            <a:pathLst>
              <a:path w="171832" h="151065">
                <a:moveTo>
                  <a:pt x="0" y="8614"/>
                </a:moveTo>
                <a:lnTo>
                  <a:pt x="164367" y="0"/>
                </a:lnTo>
                <a:lnTo>
                  <a:pt x="171832" y="142451"/>
                </a:lnTo>
                <a:lnTo>
                  <a:pt x="7466" y="151065"/>
                </a:lnTo>
                <a:close/>
              </a:path>
            </a:pathLst>
          </a:custGeom>
          <a:solidFill>
            <a:srgbClr val="E3A59E"/>
          </a:solidFill>
          <a:ln w="6350">
            <a:solidFill>
              <a:srgbClr val="E3A5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Freeform 26"/>
          <p:cNvSpPr/>
          <p:nvPr/>
        </p:nvSpPr>
        <p:spPr>
          <a:xfrm>
            <a:off x="10147009" y="2448894"/>
            <a:ext cx="595314" cy="335644"/>
          </a:xfrm>
          <a:custGeom>
            <a:avLst/>
            <a:gdLst/>
            <a:ahLst/>
            <a:cxnLst/>
            <a:rect l="l" t="t" r="r" b="b"/>
            <a:pathLst>
              <a:path w="595314" h="335644">
                <a:moveTo>
                  <a:pt x="0" y="6511"/>
                </a:moveTo>
                <a:lnTo>
                  <a:pt x="373019" y="0"/>
                </a:lnTo>
                <a:lnTo>
                  <a:pt x="595314" y="160736"/>
                </a:lnTo>
                <a:lnTo>
                  <a:pt x="378764" y="329133"/>
                </a:lnTo>
                <a:lnTo>
                  <a:pt x="5745" y="335644"/>
                </a:lnTo>
                <a:close/>
              </a:path>
            </a:pathLst>
          </a:custGeom>
          <a:solidFill>
            <a:srgbClr val="F6D9D5"/>
          </a:solidFill>
          <a:ln w="2159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Freeform 27"/>
          <p:cNvSpPr/>
          <p:nvPr/>
        </p:nvSpPr>
        <p:spPr>
          <a:xfrm>
            <a:off x="10324175" y="2542723"/>
            <a:ext cx="167057" cy="145497"/>
          </a:xfrm>
          <a:custGeom>
            <a:avLst/>
            <a:gdLst/>
            <a:ahLst/>
            <a:cxnLst/>
            <a:rect l="l" t="t" r="r" b="b"/>
            <a:pathLst>
              <a:path w="167057" h="145497">
                <a:moveTo>
                  <a:pt x="0" y="2872"/>
                </a:moveTo>
                <a:lnTo>
                  <a:pt x="164567" y="0"/>
                </a:lnTo>
                <a:lnTo>
                  <a:pt x="167057" y="142624"/>
                </a:lnTo>
                <a:lnTo>
                  <a:pt x="2490" y="145497"/>
                </a:lnTo>
                <a:close/>
              </a:path>
            </a:pathLst>
          </a:custGeom>
          <a:solidFill>
            <a:srgbClr val="E3A59E"/>
          </a:solidFill>
          <a:ln w="6350">
            <a:solidFill>
              <a:srgbClr val="E3A5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5-Point Star 28"/>
          <p:cNvSpPr/>
          <p:nvPr/>
        </p:nvSpPr>
        <p:spPr>
          <a:xfrm>
            <a:off x="10863072" y="2505456"/>
            <a:ext cx="219456" cy="219456"/>
          </a:xfrm>
          <a:prstGeom prst="star5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" name="Connector 29"/>
          <p:cNvCxnSpPr/>
          <p:nvPr/>
        </p:nvCxnSpPr>
        <p:spPr>
          <a:xfrm>
            <a:off x="11018520" y="2743200"/>
            <a:ext cx="320040" cy="228600"/>
          </a:xfrm>
          <a:prstGeom prst="line">
            <a:avLst/>
          </a:prstGeom>
          <a:ln w="1270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853928" y="2807208"/>
            <a:ext cx="15544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dirty="0">
                <a:solidFill>
                  <a:srgbClr val="C0392B"/>
                </a:solidFill>
                <a:latin typeface="Arial"/>
              </a:rPr>
              <a:t>cradle center</a:t>
            </a:r>
          </a:p>
        </p:txBody>
      </p:sp>
      <p:sp>
        <p:nvSpPr>
          <p:cNvPr id="32" name="Freeform 31"/>
          <p:cNvSpPr/>
          <p:nvPr/>
        </p:nvSpPr>
        <p:spPr>
          <a:xfrm>
            <a:off x="320040" y="2889504"/>
            <a:ext cx="493776" cy="164592"/>
          </a:xfrm>
          <a:custGeom>
            <a:avLst/>
            <a:gdLst/>
            <a:ahLst/>
            <a:cxnLst/>
            <a:rect l="l" t="t" r="r" b="b"/>
            <a:pathLst>
              <a:path w="493776" h="164592">
                <a:moveTo>
                  <a:pt x="0" y="82296"/>
                </a:moveTo>
                <a:lnTo>
                  <a:pt x="164592" y="0"/>
                </a:lnTo>
                <a:lnTo>
                  <a:pt x="329184" y="164592"/>
                </a:lnTo>
                <a:lnTo>
                  <a:pt x="493776" y="82296"/>
                </a:lnTo>
              </a:path>
            </a:pathLst>
          </a:custGeom>
          <a:noFill/>
          <a:ln w="20320">
            <a:solidFill>
              <a:srgbClr val="2A8AA8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Freeform 32"/>
          <p:cNvSpPr/>
          <p:nvPr/>
        </p:nvSpPr>
        <p:spPr>
          <a:xfrm>
            <a:off x="320040" y="2615184"/>
            <a:ext cx="493776" cy="164592"/>
          </a:xfrm>
          <a:custGeom>
            <a:avLst/>
            <a:gdLst/>
            <a:ahLst/>
            <a:cxnLst/>
            <a:rect l="l" t="t" r="r" b="b"/>
            <a:pathLst>
              <a:path w="493776" h="164592">
                <a:moveTo>
                  <a:pt x="0" y="82296"/>
                </a:moveTo>
                <a:lnTo>
                  <a:pt x="164592" y="0"/>
                </a:lnTo>
                <a:lnTo>
                  <a:pt x="329184" y="164592"/>
                </a:lnTo>
                <a:lnTo>
                  <a:pt x="493776" y="82296"/>
                </a:lnTo>
              </a:path>
            </a:pathLst>
          </a:custGeom>
          <a:noFill/>
          <a:ln w="20320">
            <a:solidFill>
              <a:srgbClr val="2A8AA8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Freeform 33"/>
          <p:cNvSpPr/>
          <p:nvPr/>
        </p:nvSpPr>
        <p:spPr>
          <a:xfrm>
            <a:off x="320040" y="2340864"/>
            <a:ext cx="493776" cy="164592"/>
          </a:xfrm>
          <a:custGeom>
            <a:avLst/>
            <a:gdLst/>
            <a:ahLst/>
            <a:cxnLst/>
            <a:rect l="l" t="t" r="r" b="b"/>
            <a:pathLst>
              <a:path w="493776" h="164592">
                <a:moveTo>
                  <a:pt x="0" y="82296"/>
                </a:moveTo>
                <a:lnTo>
                  <a:pt x="164592" y="0"/>
                </a:lnTo>
                <a:lnTo>
                  <a:pt x="329184" y="164592"/>
                </a:lnTo>
                <a:lnTo>
                  <a:pt x="493776" y="82296"/>
                </a:lnTo>
              </a:path>
            </a:pathLst>
          </a:custGeom>
          <a:noFill/>
          <a:ln w="20320">
            <a:solidFill>
              <a:srgbClr val="2A8AA8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-45720" y="192024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2A8AA8"/>
                </a:solidFill>
                <a:latin typeface="Arial"/>
              </a:rPr>
              <a:t>disturbance  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-137160" y="2130552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1">
                <a:solidFill>
                  <a:srgbClr val="2A8AA8"/>
                </a:solidFill>
                <a:latin typeface="Arial"/>
              </a:rPr>
              <a:t>(wind, waves, current)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756648" y="1641348"/>
            <a:ext cx="1920240" cy="1508760"/>
          </a:xfrm>
          <a:prstGeom prst="rect">
            <a:avLst/>
          </a:prstGeom>
          <a:noFill/>
          <a:ln w="17780">
            <a:solidFill>
              <a:srgbClr val="999999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6446520" y="3703320"/>
            <a:ext cx="5486400" cy="2057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9" name="Connector 38"/>
          <p:cNvCxnSpPr/>
          <p:nvPr/>
        </p:nvCxnSpPr>
        <p:spPr>
          <a:xfrm flipH="1">
            <a:off x="6446520" y="3150108"/>
            <a:ext cx="3310128" cy="553212"/>
          </a:xfrm>
          <a:prstGeom prst="line">
            <a:avLst/>
          </a:prstGeom>
          <a:ln w="13970">
            <a:solidFill>
              <a:srgbClr val="99999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1676888" y="3150108"/>
            <a:ext cx="256032" cy="553212"/>
          </a:xfrm>
          <a:prstGeom prst="line">
            <a:avLst/>
          </a:prstGeom>
          <a:ln w="13970">
            <a:solidFill>
              <a:srgbClr val="99999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977604" y="3813048"/>
            <a:ext cx="4845588" cy="367588"/>
          </a:xfrm>
          <a:prstGeom prst="rect">
            <a:avLst/>
          </a:prstGeom>
          <a:solidFill>
            <a:srgbClr val="C9CED4"/>
          </a:solidFill>
          <a:ln w="15240">
            <a:solidFill>
              <a:srgbClr val="3A4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275320" y="3768242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555F6B"/>
                </a:solidFill>
                <a:latin typeface="Arial"/>
              </a:rPr>
              <a:t>mothership side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556248" y="4180637"/>
            <a:ext cx="5266944" cy="0"/>
          </a:xfrm>
          <a:prstGeom prst="line">
            <a:avLst/>
          </a:prstGeom>
          <a:ln w="30480">
            <a:solidFill>
              <a:srgbClr val="C0392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445788" y="4099072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 i="1">
                <a:solidFill>
                  <a:srgbClr val="C0392B"/>
                </a:solidFill>
                <a:latin typeface="Arial"/>
              </a:rPr>
              <a:t>side boundary ∈ F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47009" y="4217396"/>
            <a:ext cx="2844149" cy="183794"/>
          </a:xfrm>
          <a:prstGeom prst="rect">
            <a:avLst/>
          </a:prstGeom>
          <a:solidFill>
            <a:srgbClr val="F6D9D5"/>
          </a:solidFill>
          <a:ln w="1778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10875142" y="4217396"/>
            <a:ext cx="316016" cy="992489"/>
          </a:xfrm>
          <a:prstGeom prst="rect">
            <a:avLst/>
          </a:prstGeom>
          <a:solidFill>
            <a:srgbClr val="F6D9D5"/>
          </a:solidFill>
          <a:ln w="1778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8347009" y="5026091"/>
            <a:ext cx="2844149" cy="183794"/>
          </a:xfrm>
          <a:prstGeom prst="rect">
            <a:avLst/>
          </a:prstGeom>
          <a:solidFill>
            <a:srgbClr val="F6D9D5"/>
          </a:solidFill>
          <a:ln w="1778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8663026" y="4474708"/>
            <a:ext cx="2106777" cy="477865"/>
          </a:xfrm>
          <a:prstGeom prst="rect">
            <a:avLst/>
          </a:prstGeom>
          <a:solidFill>
            <a:srgbClr val="A6D89B"/>
          </a:solidFill>
          <a:ln w="19050">
            <a:solidFill>
              <a:srgbClr val="3E8E3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Freeform 48"/>
          <p:cNvSpPr/>
          <p:nvPr/>
        </p:nvSpPr>
        <p:spPr>
          <a:xfrm>
            <a:off x="9011595" y="4543562"/>
            <a:ext cx="612282" cy="340157"/>
          </a:xfrm>
          <a:custGeom>
            <a:avLst/>
            <a:gdLst/>
            <a:ahLst/>
            <a:cxnLst/>
            <a:rect l="l" t="t" r="r" b="b"/>
            <a:pathLst>
              <a:path w="612282" h="340157">
                <a:moveTo>
                  <a:pt x="0" y="0"/>
                </a:moveTo>
                <a:lnTo>
                  <a:pt x="385511" y="0"/>
                </a:lnTo>
                <a:lnTo>
                  <a:pt x="612282" y="170079"/>
                </a:lnTo>
                <a:lnTo>
                  <a:pt x="385511" y="340157"/>
                </a:lnTo>
                <a:lnTo>
                  <a:pt x="0" y="340157"/>
                </a:lnTo>
                <a:close/>
              </a:path>
            </a:pathLst>
          </a:custGeom>
          <a:solidFill>
            <a:srgbClr val="F6D9D5"/>
          </a:solidFill>
          <a:ln w="2159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Freeform 49"/>
          <p:cNvSpPr/>
          <p:nvPr/>
        </p:nvSpPr>
        <p:spPr>
          <a:xfrm>
            <a:off x="9193012" y="4639940"/>
            <a:ext cx="170078" cy="147401"/>
          </a:xfrm>
          <a:custGeom>
            <a:avLst/>
            <a:gdLst/>
            <a:ahLst/>
            <a:cxnLst/>
            <a:rect l="l" t="t" r="r" b="b"/>
            <a:pathLst>
              <a:path w="170078" h="147401">
                <a:moveTo>
                  <a:pt x="0" y="0"/>
                </a:moveTo>
                <a:lnTo>
                  <a:pt x="170078" y="0"/>
                </a:lnTo>
                <a:lnTo>
                  <a:pt x="170078" y="147401"/>
                </a:lnTo>
                <a:lnTo>
                  <a:pt x="0" y="147401"/>
                </a:lnTo>
                <a:close/>
              </a:path>
            </a:pathLst>
          </a:custGeom>
          <a:solidFill>
            <a:srgbClr val="E3A59E"/>
          </a:solidFill>
          <a:ln w="6350">
            <a:solidFill>
              <a:srgbClr val="E3A5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398605" y="4503420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C0392B"/>
                </a:solidFill>
                <a:latin typeface="Arial"/>
              </a:rPr>
              <a:t>cradle walls  ∈ F</a:t>
            </a:r>
          </a:p>
        </p:txBody>
      </p:sp>
      <p:cxnSp>
        <p:nvCxnSpPr>
          <p:cNvPr id="52" name="Connector 51"/>
          <p:cNvCxnSpPr/>
          <p:nvPr/>
        </p:nvCxnSpPr>
        <p:spPr>
          <a:xfrm flipV="1">
            <a:off x="7872984" y="4640123"/>
            <a:ext cx="526694" cy="91897"/>
          </a:xfrm>
          <a:prstGeom prst="line">
            <a:avLst/>
          </a:prstGeom>
          <a:ln w="1270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8070494" y="5201839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>
                <a:solidFill>
                  <a:srgbClr val="3E8E3E"/>
                </a:solidFill>
                <a:latin typeface="Arial"/>
              </a:rPr>
              <a:t>target set  T  (aligned entry, gentle velocity)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59835" y="5201839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 i="1">
                <a:solidFill>
                  <a:srgbClr val="666666"/>
                </a:solidFill>
                <a:latin typeface="Arial"/>
              </a:rPr>
              <a:t>cradle region (zoom)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11480" y="4457700"/>
            <a:ext cx="3108960" cy="7772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l"/>
            <a:r>
              <a:rPr sz="1350" b="1">
                <a:solidFill>
                  <a:srgbClr val="2E6DA4"/>
                </a:solidFill>
                <a:latin typeface="Arial"/>
              </a:rPr>
              <a:t>Phase 1 · Approach / DP</a:t>
            </a:r>
          </a:p>
          <a:p>
            <a:pPr algn="l"/>
            <a:r>
              <a:rPr sz="1100">
                <a:solidFill>
                  <a:srgbClr val="333333"/>
                </a:solidFill>
                <a:latin typeface="Arial"/>
              </a:rPr>
              <a:t>Method : DOB-MPC w RaCBF</a:t>
            </a:r>
          </a:p>
        </p:txBody>
      </p:sp>
      <p:cxnSp>
        <p:nvCxnSpPr>
          <p:cNvPr id="56" name="Connector 55"/>
          <p:cNvCxnSpPr/>
          <p:nvPr/>
        </p:nvCxnSpPr>
        <p:spPr>
          <a:xfrm flipV="1">
            <a:off x="2286000" y="3520440"/>
            <a:ext cx="320040" cy="932688"/>
          </a:xfrm>
          <a:prstGeom prst="line">
            <a:avLst/>
          </a:prstGeom>
          <a:ln w="12700">
            <a:solidFill>
              <a:srgbClr val="2E6D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457200" y="5340096"/>
            <a:ext cx="3383280" cy="65836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l"/>
            <a:r>
              <a:rPr sz="1350" b="1">
                <a:solidFill>
                  <a:srgbClr val="C0392B"/>
                </a:solidFill>
                <a:latin typeface="Arial"/>
              </a:rPr>
              <a:t>Phase 2 · Docking</a:t>
            </a:r>
          </a:p>
          <a:p>
            <a:pPr algn="l"/>
            <a:r>
              <a:rPr sz="1100">
                <a:solidFill>
                  <a:srgbClr val="333333"/>
                </a:solidFill>
                <a:latin typeface="Arial"/>
              </a:rPr>
              <a:t>Method : Robust reach avoid RL</a:t>
            </a:r>
          </a:p>
        </p:txBody>
      </p:sp>
      <p:cxnSp>
        <p:nvCxnSpPr>
          <p:cNvPr id="58" name="Connector 57"/>
          <p:cNvCxnSpPr/>
          <p:nvPr/>
        </p:nvCxnSpPr>
        <p:spPr>
          <a:xfrm flipV="1">
            <a:off x="3840480" y="2834640"/>
            <a:ext cx="1828800" cy="2697480"/>
          </a:xfrm>
          <a:prstGeom prst="line">
            <a:avLst/>
          </a:prstGeom>
          <a:ln w="1270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6ED32-F2C3-DBF9-8AE2-B55F9F40B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자유형: 도형 130">
            <a:extLst>
              <a:ext uri="{FF2B5EF4-FFF2-40B4-BE49-F238E27FC236}">
                <a16:creationId xmlns:a16="http://schemas.microsoft.com/office/drawing/2014/main" id="{E4A61423-3500-6E07-BD28-4FB17B7581AD}"/>
              </a:ext>
            </a:extLst>
          </p:cNvPr>
          <p:cNvSpPr/>
          <p:nvPr/>
        </p:nvSpPr>
        <p:spPr>
          <a:xfrm>
            <a:off x="4417637" y="1793041"/>
            <a:ext cx="3587553" cy="1419722"/>
          </a:xfrm>
          <a:custGeom>
            <a:avLst/>
            <a:gdLst>
              <a:gd name="csX0" fmla="*/ 2577523 w 3587553"/>
              <a:gd name="csY0" fmla="*/ 15439 h 1419722"/>
              <a:gd name="csX1" fmla="*/ 1856163 w 3587553"/>
              <a:gd name="csY1" fmla="*/ 25599 h 1419722"/>
              <a:gd name="csX2" fmla="*/ 1038283 w 3587553"/>
              <a:gd name="csY2" fmla="*/ 40839 h 1419722"/>
              <a:gd name="csX3" fmla="*/ 393123 w 3587553"/>
              <a:gd name="csY3" fmla="*/ 132279 h 1419722"/>
              <a:gd name="csX4" fmla="*/ 83243 w 3587553"/>
              <a:gd name="csY4" fmla="*/ 401519 h 1419722"/>
              <a:gd name="csX5" fmla="*/ 7043 w 3587553"/>
              <a:gd name="csY5" fmla="*/ 848559 h 1419722"/>
              <a:gd name="csX6" fmla="*/ 220403 w 3587553"/>
              <a:gd name="csY6" fmla="*/ 1280359 h 1419722"/>
              <a:gd name="csX7" fmla="*/ 941763 w 3587553"/>
              <a:gd name="csY7" fmla="*/ 1402279 h 1419722"/>
              <a:gd name="csX8" fmla="*/ 1612323 w 3587553"/>
              <a:gd name="csY8" fmla="*/ 950159 h 1419722"/>
              <a:gd name="csX9" fmla="*/ 2084763 w 3587553"/>
              <a:gd name="csY9" fmla="*/ 538679 h 1419722"/>
              <a:gd name="csX10" fmla="*/ 2648643 w 3587553"/>
              <a:gd name="csY10" fmla="*/ 426919 h 1419722"/>
              <a:gd name="csX11" fmla="*/ 3380163 w 3587553"/>
              <a:gd name="csY11" fmla="*/ 431999 h 1419722"/>
              <a:gd name="csX12" fmla="*/ 3568123 w 3587553"/>
              <a:gd name="csY12" fmla="*/ 264359 h 1419722"/>
              <a:gd name="csX13" fmla="*/ 3552883 w 3587553"/>
              <a:gd name="csY13" fmla="*/ 101799 h 1419722"/>
              <a:gd name="csX14" fmla="*/ 3314123 w 3587553"/>
              <a:gd name="csY14" fmla="*/ 5279 h 1419722"/>
              <a:gd name="csX15" fmla="*/ 2877243 w 3587553"/>
              <a:gd name="csY15" fmla="*/ 10359 h 1419722"/>
              <a:gd name="csX16" fmla="*/ 2577523 w 3587553"/>
              <a:gd name="csY16" fmla="*/ 15439 h 14197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3587553" h="1419722">
                <a:moveTo>
                  <a:pt x="2577523" y="15439"/>
                </a:moveTo>
                <a:lnTo>
                  <a:pt x="1856163" y="25599"/>
                </a:lnTo>
                <a:cubicBezTo>
                  <a:pt x="1599623" y="29832"/>
                  <a:pt x="1282123" y="23059"/>
                  <a:pt x="1038283" y="40839"/>
                </a:cubicBezTo>
                <a:cubicBezTo>
                  <a:pt x="794443" y="58619"/>
                  <a:pt x="552296" y="72166"/>
                  <a:pt x="393123" y="132279"/>
                </a:cubicBezTo>
                <a:cubicBezTo>
                  <a:pt x="233950" y="192392"/>
                  <a:pt x="147590" y="282139"/>
                  <a:pt x="83243" y="401519"/>
                </a:cubicBezTo>
                <a:cubicBezTo>
                  <a:pt x="18896" y="520899"/>
                  <a:pt x="-15817" y="702086"/>
                  <a:pt x="7043" y="848559"/>
                </a:cubicBezTo>
                <a:cubicBezTo>
                  <a:pt x="29903" y="995032"/>
                  <a:pt x="64616" y="1188072"/>
                  <a:pt x="220403" y="1280359"/>
                </a:cubicBezTo>
                <a:cubicBezTo>
                  <a:pt x="376190" y="1372646"/>
                  <a:pt x="709776" y="1457312"/>
                  <a:pt x="941763" y="1402279"/>
                </a:cubicBezTo>
                <a:cubicBezTo>
                  <a:pt x="1173750" y="1347246"/>
                  <a:pt x="1421823" y="1094092"/>
                  <a:pt x="1612323" y="950159"/>
                </a:cubicBezTo>
                <a:cubicBezTo>
                  <a:pt x="1802823" y="806226"/>
                  <a:pt x="1912043" y="625886"/>
                  <a:pt x="2084763" y="538679"/>
                </a:cubicBezTo>
                <a:cubicBezTo>
                  <a:pt x="2257483" y="451472"/>
                  <a:pt x="2432743" y="444699"/>
                  <a:pt x="2648643" y="426919"/>
                </a:cubicBezTo>
                <a:cubicBezTo>
                  <a:pt x="2864543" y="409139"/>
                  <a:pt x="3226916" y="459092"/>
                  <a:pt x="3380163" y="431999"/>
                </a:cubicBezTo>
                <a:cubicBezTo>
                  <a:pt x="3533410" y="404906"/>
                  <a:pt x="3539336" y="319392"/>
                  <a:pt x="3568123" y="264359"/>
                </a:cubicBezTo>
                <a:cubicBezTo>
                  <a:pt x="3596910" y="209326"/>
                  <a:pt x="3595216" y="144979"/>
                  <a:pt x="3552883" y="101799"/>
                </a:cubicBezTo>
                <a:cubicBezTo>
                  <a:pt x="3510550" y="58619"/>
                  <a:pt x="3426730" y="20519"/>
                  <a:pt x="3314123" y="5279"/>
                </a:cubicBezTo>
                <a:cubicBezTo>
                  <a:pt x="3201516" y="-9961"/>
                  <a:pt x="3002550" y="12899"/>
                  <a:pt x="2877243" y="10359"/>
                </a:cubicBezTo>
                <a:lnTo>
                  <a:pt x="2577523" y="15439"/>
                </a:ln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19050">
            <a:solidFill>
              <a:srgbClr val="3165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0" name="그림 69">
            <a:extLst>
              <a:ext uri="{FF2B5EF4-FFF2-40B4-BE49-F238E27FC236}">
                <a16:creationId xmlns:a16="http://schemas.microsoft.com/office/drawing/2014/main" id="{D54DD139-3E13-F9D4-CB08-CD7F48BC35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6624201" y="1331735"/>
            <a:ext cx="1526475" cy="1374889"/>
          </a:xfrm>
          <a:prstGeom prst="rect">
            <a:avLst/>
          </a:prstGeom>
        </p:spPr>
      </p:pic>
      <p:cxnSp>
        <p:nvCxnSpPr>
          <p:cNvPr id="7" name="Connector 6">
            <a:extLst>
              <a:ext uri="{FF2B5EF4-FFF2-40B4-BE49-F238E27FC236}">
                <a16:creationId xmlns:a16="http://schemas.microsoft.com/office/drawing/2014/main" id="{97B32A1A-CCF2-CEB0-E947-2E48E794A7D3}"/>
              </a:ext>
            </a:extLst>
          </p:cNvPr>
          <p:cNvCxnSpPr/>
          <p:nvPr/>
        </p:nvCxnSpPr>
        <p:spPr>
          <a:xfrm>
            <a:off x="5212080" y="277706"/>
            <a:ext cx="2743200" cy="0"/>
          </a:xfrm>
          <a:prstGeom prst="line">
            <a:avLst/>
          </a:prstGeom>
          <a:ln w="38100">
            <a:solidFill>
              <a:srgbClr val="3040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C7E656F-0399-1943-7F21-11F849B66764}"/>
              </a:ext>
            </a:extLst>
          </p:cNvPr>
          <p:cNvSpPr txBox="1"/>
          <p:nvPr/>
        </p:nvSpPr>
        <p:spPr>
          <a:xfrm>
            <a:off x="4663440" y="-106342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dirty="0">
                <a:solidFill>
                  <a:srgbClr val="304055"/>
                </a:solidFill>
                <a:latin typeface="Arial"/>
              </a:rPr>
              <a:t>Vₛ   (mothership advances)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AA522A9-0103-5795-4A26-92A991F394DB}"/>
              </a:ext>
            </a:extLst>
          </p:cNvPr>
          <p:cNvSpPr/>
          <p:nvPr/>
        </p:nvSpPr>
        <p:spPr>
          <a:xfrm>
            <a:off x="1559560" y="1609344"/>
            <a:ext cx="10629392" cy="91440"/>
          </a:xfrm>
          <a:prstGeom prst="rect">
            <a:avLst/>
          </a:prstGeom>
          <a:solidFill>
            <a:srgbClr val="FBE9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>
            <a:extLst>
              <a:ext uri="{FF2B5EF4-FFF2-40B4-BE49-F238E27FC236}">
                <a16:creationId xmlns:a16="http://schemas.microsoft.com/office/drawing/2014/main" id="{EF2486CF-D779-BDA7-16DB-7A677C34419D}"/>
              </a:ext>
            </a:extLst>
          </p:cNvPr>
          <p:cNvCxnSpPr>
            <a:cxnSpLocks/>
          </p:cNvCxnSpPr>
          <p:nvPr/>
        </p:nvCxnSpPr>
        <p:spPr>
          <a:xfrm>
            <a:off x="1559560" y="1700784"/>
            <a:ext cx="10629392" cy="0"/>
          </a:xfrm>
          <a:prstGeom prst="line">
            <a:avLst/>
          </a:prstGeom>
          <a:ln w="33020">
            <a:solidFill>
              <a:srgbClr val="E8A33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B1DDFFC-FBEC-8AEB-E71C-7354076F3989}"/>
              </a:ext>
            </a:extLst>
          </p:cNvPr>
          <p:cNvSpPr txBox="1"/>
          <p:nvPr/>
        </p:nvSpPr>
        <p:spPr>
          <a:xfrm>
            <a:off x="3589314" y="3274777"/>
            <a:ext cx="3291840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1" dirty="0">
                <a:solidFill>
                  <a:srgbClr val="3E8E3E"/>
                </a:solidFill>
                <a:latin typeface="Arial"/>
              </a:rPr>
              <a:t>reach avoid set  (V(s) ≤ 0)</a:t>
            </a: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0BB6F5BC-9E47-32AE-60F0-7EE5C96ABF72}"/>
              </a:ext>
            </a:extLst>
          </p:cNvPr>
          <p:cNvSpPr/>
          <p:nvPr/>
        </p:nvSpPr>
        <p:spPr>
          <a:xfrm>
            <a:off x="1920239" y="2263141"/>
            <a:ext cx="3129281" cy="1623693"/>
          </a:xfrm>
          <a:custGeom>
            <a:avLst/>
            <a:gdLst/>
            <a:ahLst/>
            <a:cxnLst/>
            <a:rect l="l" t="t" r="r" b="b"/>
            <a:pathLst>
              <a:path w="4526280" h="932688">
                <a:moveTo>
                  <a:pt x="0" y="932688"/>
                </a:moveTo>
                <a:lnTo>
                  <a:pt x="960120" y="658368"/>
                </a:lnTo>
                <a:lnTo>
                  <a:pt x="2057400" y="365760"/>
                </a:lnTo>
                <a:lnTo>
                  <a:pt x="3063240" y="146304"/>
                </a:lnTo>
                <a:lnTo>
                  <a:pt x="4160520" y="18288"/>
                </a:lnTo>
                <a:lnTo>
                  <a:pt x="4526280" y="0"/>
                </a:lnTo>
              </a:path>
            </a:pathLst>
          </a:custGeom>
          <a:noFill/>
          <a:ln w="38100">
            <a:solidFill>
              <a:srgbClr val="2E6DA4"/>
            </a:solidFill>
            <a:prstDash val="dash"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EB3F04B7-12A1-7CBE-84BC-12E468053F23}"/>
              </a:ext>
            </a:extLst>
          </p:cNvPr>
          <p:cNvSpPr/>
          <p:nvPr/>
        </p:nvSpPr>
        <p:spPr>
          <a:xfrm>
            <a:off x="5454904" y="2025643"/>
            <a:ext cx="1910350" cy="168916"/>
          </a:xfrm>
          <a:custGeom>
            <a:avLst/>
            <a:gdLst/>
            <a:ahLst/>
            <a:cxnLst/>
            <a:rect l="l" t="t" r="r" b="b"/>
            <a:pathLst>
              <a:path w="4297680" h="182880">
                <a:moveTo>
                  <a:pt x="0" y="182880"/>
                </a:moveTo>
                <a:lnTo>
                  <a:pt x="1234440" y="109728"/>
                </a:lnTo>
                <a:lnTo>
                  <a:pt x="2423160" y="54864"/>
                </a:lnTo>
                <a:lnTo>
                  <a:pt x="3611880" y="18288"/>
                </a:lnTo>
                <a:lnTo>
                  <a:pt x="4297680" y="0"/>
                </a:lnTo>
              </a:path>
            </a:pathLst>
          </a:custGeom>
          <a:noFill/>
          <a:ln w="38100">
            <a:solidFill>
              <a:srgbClr val="C039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36C3B56E-9918-C008-DF9E-39C2C59E6F25}"/>
              </a:ext>
            </a:extLst>
          </p:cNvPr>
          <p:cNvGrpSpPr/>
          <p:nvPr/>
        </p:nvGrpSpPr>
        <p:grpSpPr>
          <a:xfrm>
            <a:off x="5171156" y="2135124"/>
            <a:ext cx="201168" cy="201168"/>
            <a:chOff x="5171156" y="2135124"/>
            <a:chExt cx="201168" cy="201168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EA56BE68-0FD1-76FE-84EF-D40E839A21CD}"/>
                </a:ext>
              </a:extLst>
            </p:cNvPr>
            <p:cNvSpPr/>
            <p:nvPr/>
          </p:nvSpPr>
          <p:spPr>
            <a:xfrm>
              <a:off x="5171156" y="2135124"/>
              <a:ext cx="201168" cy="201168"/>
            </a:xfrm>
            <a:prstGeom prst="ellipse">
              <a:avLst/>
            </a:prstGeom>
            <a:solidFill>
              <a:srgbClr val="FFFFFF"/>
            </a:solidFill>
            <a:ln w="17780">
              <a:solidFill>
                <a:srgbClr val="333333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BB73102-2535-74CA-63F6-26EB859BA15D}"/>
                </a:ext>
              </a:extLst>
            </p:cNvPr>
            <p:cNvSpPr/>
            <p:nvPr/>
          </p:nvSpPr>
          <p:spPr>
            <a:xfrm>
              <a:off x="5244308" y="2208276"/>
              <a:ext cx="54864" cy="54864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E014BAC1-4F44-8F37-1DF5-C34A5E00FB94}"/>
              </a:ext>
            </a:extLst>
          </p:cNvPr>
          <p:cNvSpPr txBox="1"/>
          <p:nvPr/>
        </p:nvSpPr>
        <p:spPr>
          <a:xfrm>
            <a:off x="4448780" y="2420093"/>
            <a:ext cx="1645920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 dirty="0">
                <a:solidFill>
                  <a:srgbClr val="2E6DA4"/>
                </a:solidFill>
                <a:latin typeface="Arial"/>
              </a:rPr>
              <a:t>DP point</a:t>
            </a:r>
          </a:p>
        </p:txBody>
      </p:sp>
      <p:sp>
        <p:nvSpPr>
          <p:cNvPr id="55" name="Rounded Rectangle 54">
            <a:extLst>
              <a:ext uri="{FF2B5EF4-FFF2-40B4-BE49-F238E27FC236}">
                <a16:creationId xmlns:a16="http://schemas.microsoft.com/office/drawing/2014/main" id="{C3AFAB72-2503-F202-CBF2-2AB063E63E5C}"/>
              </a:ext>
            </a:extLst>
          </p:cNvPr>
          <p:cNvSpPr/>
          <p:nvPr/>
        </p:nvSpPr>
        <p:spPr>
          <a:xfrm>
            <a:off x="2233542" y="4197266"/>
            <a:ext cx="2646680" cy="65836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l"/>
            <a:r>
              <a:rPr sz="1350" b="1">
                <a:solidFill>
                  <a:srgbClr val="2E6DA4"/>
                </a:solidFill>
                <a:latin typeface="Arial"/>
              </a:rPr>
              <a:t>Phase 1 · Approach / DP</a:t>
            </a:r>
          </a:p>
          <a:p>
            <a:pPr algn="l"/>
            <a:r>
              <a:rPr sz="1100">
                <a:solidFill>
                  <a:srgbClr val="333333"/>
                </a:solidFill>
                <a:latin typeface="Arial"/>
              </a:rPr>
              <a:t>Method : DOB-MPC w RaCBF</a:t>
            </a:r>
          </a:p>
        </p:txBody>
      </p:sp>
      <p:cxnSp>
        <p:nvCxnSpPr>
          <p:cNvPr id="56" name="Connector 55">
            <a:extLst>
              <a:ext uri="{FF2B5EF4-FFF2-40B4-BE49-F238E27FC236}">
                <a16:creationId xmlns:a16="http://schemas.microsoft.com/office/drawing/2014/main" id="{25B00592-6700-5C22-CC2D-E6A59081AAD1}"/>
              </a:ext>
            </a:extLst>
          </p:cNvPr>
          <p:cNvCxnSpPr>
            <a:cxnSpLocks/>
            <a:stCxn id="55" idx="0"/>
          </p:cNvCxnSpPr>
          <p:nvPr/>
        </p:nvCxnSpPr>
        <p:spPr>
          <a:xfrm flipH="1" flipV="1">
            <a:off x="3250141" y="3129422"/>
            <a:ext cx="306741" cy="1067844"/>
          </a:xfrm>
          <a:prstGeom prst="line">
            <a:avLst/>
          </a:prstGeom>
          <a:ln w="12700">
            <a:solidFill>
              <a:srgbClr val="2E6D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94ED9652-D6DE-1F2D-F820-B570EC0403B8}"/>
              </a:ext>
            </a:extLst>
          </p:cNvPr>
          <p:cNvSpPr/>
          <p:nvPr/>
        </p:nvSpPr>
        <p:spPr>
          <a:xfrm>
            <a:off x="5716840" y="4105510"/>
            <a:ext cx="2646680" cy="65836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l"/>
            <a:r>
              <a:rPr sz="1350" b="1">
                <a:solidFill>
                  <a:srgbClr val="C0392B"/>
                </a:solidFill>
                <a:latin typeface="Arial"/>
              </a:rPr>
              <a:t>Phase 2 · Docking</a:t>
            </a:r>
          </a:p>
          <a:p>
            <a:pPr algn="l"/>
            <a:r>
              <a:rPr sz="1100">
                <a:solidFill>
                  <a:srgbClr val="333333"/>
                </a:solidFill>
                <a:latin typeface="Arial"/>
              </a:rPr>
              <a:t>Method : Robust reach avoid RL</a:t>
            </a:r>
          </a:p>
        </p:txBody>
      </p:sp>
      <p:cxnSp>
        <p:nvCxnSpPr>
          <p:cNvPr id="58" name="Connector 57">
            <a:extLst>
              <a:ext uri="{FF2B5EF4-FFF2-40B4-BE49-F238E27FC236}">
                <a16:creationId xmlns:a16="http://schemas.microsoft.com/office/drawing/2014/main" id="{43636A71-469F-68FC-FF8D-CB9470E3C9F5}"/>
              </a:ext>
            </a:extLst>
          </p:cNvPr>
          <p:cNvCxnSpPr>
            <a:cxnSpLocks/>
            <a:stCxn id="57" idx="0"/>
          </p:cNvCxnSpPr>
          <p:nvPr/>
        </p:nvCxnSpPr>
        <p:spPr>
          <a:xfrm flipH="1" flipV="1">
            <a:off x="6163869" y="2377626"/>
            <a:ext cx="876311" cy="1727884"/>
          </a:xfrm>
          <a:prstGeom prst="line">
            <a:avLst/>
          </a:prstGeom>
          <a:ln w="1270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3" name="그림 62">
            <a:extLst>
              <a:ext uri="{FF2B5EF4-FFF2-40B4-BE49-F238E27FC236}">
                <a16:creationId xmlns:a16="http://schemas.microsoft.com/office/drawing/2014/main" id="{86CA1B39-5F49-A082-3480-95D1C9EBC5B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392" t="79073" r="57408" b="8050"/>
          <a:stretch>
            <a:fillRect/>
          </a:stretch>
        </p:blipFill>
        <p:spPr>
          <a:xfrm rot="20514241">
            <a:off x="1642438" y="3627212"/>
            <a:ext cx="1008240" cy="329871"/>
          </a:xfrm>
          <a:prstGeom prst="rect">
            <a:avLst/>
          </a:prstGeom>
        </p:spPr>
      </p:pic>
      <p:pic>
        <p:nvPicPr>
          <p:cNvPr id="65" name="그림 64">
            <a:extLst>
              <a:ext uri="{FF2B5EF4-FFF2-40B4-BE49-F238E27FC236}">
                <a16:creationId xmlns:a16="http://schemas.microsoft.com/office/drawing/2014/main" id="{A4767D09-3278-787E-12F0-A1E03383E85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392" t="79073" r="57408" b="8050"/>
          <a:stretch>
            <a:fillRect/>
          </a:stretch>
        </p:blipFill>
        <p:spPr>
          <a:xfrm rot="20594310">
            <a:off x="3103357" y="2549342"/>
            <a:ext cx="1008240" cy="329871"/>
          </a:xfrm>
          <a:prstGeom prst="rect">
            <a:avLst/>
          </a:prstGeom>
        </p:spPr>
      </p:pic>
      <p:pic>
        <p:nvPicPr>
          <p:cNvPr id="67" name="그림 66">
            <a:extLst>
              <a:ext uri="{FF2B5EF4-FFF2-40B4-BE49-F238E27FC236}">
                <a16:creationId xmlns:a16="http://schemas.microsoft.com/office/drawing/2014/main" id="{798C3C3A-92BC-B87C-1C40-3FE600EE5A7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392" t="79073" r="57408" b="8050"/>
          <a:stretch>
            <a:fillRect/>
          </a:stretch>
        </p:blipFill>
        <p:spPr>
          <a:xfrm rot="21263084">
            <a:off x="5843188" y="1916738"/>
            <a:ext cx="1008240" cy="329871"/>
          </a:xfrm>
          <a:prstGeom prst="rect">
            <a:avLst/>
          </a:prstGeom>
        </p:spPr>
      </p:pic>
      <p:sp>
        <p:nvSpPr>
          <p:cNvPr id="5" name="5-Point Star 28">
            <a:extLst>
              <a:ext uri="{FF2B5EF4-FFF2-40B4-BE49-F238E27FC236}">
                <a16:creationId xmlns:a16="http://schemas.microsoft.com/office/drawing/2014/main" id="{6B30BE2E-E870-EDDF-5A44-999E61224C81}"/>
              </a:ext>
            </a:extLst>
          </p:cNvPr>
          <p:cNvSpPr/>
          <p:nvPr/>
        </p:nvSpPr>
        <p:spPr>
          <a:xfrm>
            <a:off x="7387438" y="1918710"/>
            <a:ext cx="181368" cy="181368"/>
          </a:xfrm>
          <a:prstGeom prst="star5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B33A7F-76BA-16A9-FDB4-A61F486DD4E3}"/>
              </a:ext>
            </a:extLst>
          </p:cNvPr>
          <p:cNvSpPr txBox="1"/>
          <p:nvPr/>
        </p:nvSpPr>
        <p:spPr>
          <a:xfrm>
            <a:off x="6983533" y="2336647"/>
            <a:ext cx="1072333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050" b="1" i="0" dirty="0">
                <a:solidFill>
                  <a:srgbClr val="C0392B"/>
                </a:solidFill>
                <a:latin typeface="Arial"/>
              </a:rPr>
              <a:t>C</a:t>
            </a:r>
            <a:r>
              <a:rPr sz="1050" b="1" i="0" dirty="0">
                <a:solidFill>
                  <a:srgbClr val="C0392B"/>
                </a:solidFill>
                <a:latin typeface="Arial"/>
              </a:rPr>
              <a:t>radle center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F6CD0E1-377D-FBEE-9151-0596401843CD}"/>
                  </a:ext>
                </a:extLst>
              </p:cNvPr>
              <p:cNvSpPr txBox="1"/>
              <p:nvPr/>
            </p:nvSpPr>
            <p:spPr>
              <a:xfrm>
                <a:off x="8342568" y="2856447"/>
                <a:ext cx="1391475" cy="161583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/>
                <a:r>
                  <a:rPr lang="en-US" sz="1050" b="1" i="1" dirty="0">
                    <a:solidFill>
                      <a:srgbClr val="C0392B"/>
                    </a:solidFill>
                    <a:latin typeface="Arial"/>
                  </a:rPr>
                  <a:t>S</a:t>
                </a:r>
                <a:r>
                  <a:rPr sz="1050" b="1" i="1" dirty="0">
                    <a:solidFill>
                      <a:srgbClr val="C0392B"/>
                    </a:solidFill>
                    <a:latin typeface="Arial"/>
                  </a:rPr>
                  <a:t>ide boundary</a:t>
                </a:r>
                <a:r>
                  <a:rPr lang="en-US" sz="1050" b="1" i="1" dirty="0">
                    <a:solidFill>
                      <a:srgbClr val="C0392B"/>
                    </a:solidFill>
                    <a:latin typeface="Arial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sz="1050" b="1" i="1" smtClean="0">
                        <a:solidFill>
                          <a:srgbClr val="C0392B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ko-KR" altLang="en-US" sz="1050" b="1" i="1" smtClean="0">
                        <a:solidFill>
                          <a:srgbClr val="C0392B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𝓕</m:t>
                    </m:r>
                  </m:oMath>
                </a14:m>
                <a:endParaRPr sz="1050" b="1" i="1" dirty="0">
                  <a:solidFill>
                    <a:srgbClr val="C0392B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F6CD0E1-377D-FBEE-9151-0596401843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2568" y="2856447"/>
                <a:ext cx="1391475" cy="161583"/>
              </a:xfrm>
              <a:prstGeom prst="rect">
                <a:avLst/>
              </a:prstGeom>
              <a:blipFill>
                <a:blip r:embed="rId4"/>
                <a:stretch>
                  <a:fillRect t="-26923" b="-5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5EC1E74-9F5F-CCF8-D38B-7EE0027FE753}"/>
                  </a:ext>
                </a:extLst>
              </p:cNvPr>
              <p:cNvSpPr txBox="1"/>
              <p:nvPr/>
            </p:nvSpPr>
            <p:spPr>
              <a:xfrm>
                <a:off x="10638613" y="3624984"/>
                <a:ext cx="1545782" cy="161583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/>
                <a:r>
                  <a:rPr lang="en-US" sz="1050" b="1" i="0" dirty="0">
                    <a:solidFill>
                      <a:srgbClr val="C0392B"/>
                    </a:solidFill>
                    <a:latin typeface="Arial"/>
                  </a:rPr>
                  <a:t>C</a:t>
                </a:r>
                <a:r>
                  <a:rPr sz="1050" b="1" i="0" dirty="0">
                    <a:solidFill>
                      <a:srgbClr val="C0392B"/>
                    </a:solidFill>
                    <a:latin typeface="Arial"/>
                  </a:rPr>
                  <a:t>radle walls </a:t>
                </a:r>
                <a14:m>
                  <m:oMath xmlns:m="http://schemas.openxmlformats.org/officeDocument/2006/math">
                    <m:r>
                      <a:rPr lang="ko-KR" altLang="en-US" sz="1050" b="1" i="1">
                        <a:solidFill>
                          <a:srgbClr val="C0392B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ko-KR" altLang="en-US" sz="1050" b="1" i="1">
                        <a:solidFill>
                          <a:srgbClr val="C0392B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𝓕</m:t>
                    </m:r>
                  </m:oMath>
                </a14:m>
                <a:endParaRPr sz="1050" b="1" i="0" dirty="0">
                  <a:solidFill>
                    <a:srgbClr val="C0392B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5EC1E74-9F5F-CCF8-D38B-7EE0027FE7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38613" y="3624984"/>
                <a:ext cx="1545782" cy="161583"/>
              </a:xfrm>
              <a:prstGeom prst="rect">
                <a:avLst/>
              </a:prstGeom>
              <a:blipFill>
                <a:blip r:embed="rId5"/>
                <a:stretch>
                  <a:fillRect t="-26923" b="-5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1" name="그룹 90">
            <a:extLst>
              <a:ext uri="{FF2B5EF4-FFF2-40B4-BE49-F238E27FC236}">
                <a16:creationId xmlns:a16="http://schemas.microsoft.com/office/drawing/2014/main" id="{4191FDF6-F0F2-8C1A-D48F-4B64B15AC123}"/>
              </a:ext>
            </a:extLst>
          </p:cNvPr>
          <p:cNvGrpSpPr/>
          <p:nvPr/>
        </p:nvGrpSpPr>
        <p:grpSpPr>
          <a:xfrm>
            <a:off x="10063696" y="2823858"/>
            <a:ext cx="1576861" cy="775041"/>
            <a:chOff x="7609842" y="3689133"/>
            <a:chExt cx="2338830" cy="1149557"/>
          </a:xfrm>
        </p:grpSpPr>
        <p:grpSp>
          <p:nvGrpSpPr>
            <p:cNvPr id="89" name="그룹 88">
              <a:extLst>
                <a:ext uri="{FF2B5EF4-FFF2-40B4-BE49-F238E27FC236}">
                  <a16:creationId xmlns:a16="http://schemas.microsoft.com/office/drawing/2014/main" id="{B2B0B546-289E-5DAF-F7B4-30F18BFD96CD}"/>
                </a:ext>
              </a:extLst>
            </p:cNvPr>
            <p:cNvGrpSpPr/>
            <p:nvPr/>
          </p:nvGrpSpPr>
          <p:grpSpPr>
            <a:xfrm>
              <a:off x="7614075" y="3689133"/>
              <a:ext cx="2334597" cy="1149557"/>
              <a:chOff x="7447280" y="3841662"/>
              <a:chExt cx="2334597" cy="1149557"/>
            </a:xfrm>
          </p:grpSpPr>
          <p:pic>
            <p:nvPicPr>
              <p:cNvPr id="73" name="그림 72">
                <a:extLst>
                  <a:ext uri="{FF2B5EF4-FFF2-40B4-BE49-F238E27FC236}">
                    <a16:creationId xmlns:a16="http://schemas.microsoft.com/office/drawing/2014/main" id="{8577C202-23F8-E9FB-45DD-B5D7D3E121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20686" b="23574"/>
              <a:stretch>
                <a:fillRect/>
              </a:stretch>
            </p:blipFill>
            <p:spPr>
              <a:xfrm rot="10800000">
                <a:off x="7447280" y="3850128"/>
                <a:ext cx="2272876" cy="1141091"/>
              </a:xfrm>
              <a:prstGeom prst="rect">
                <a:avLst/>
              </a:prstGeom>
            </p:spPr>
          </p:pic>
          <p:sp>
            <p:nvSpPr>
              <p:cNvPr id="87" name="자유형: 도형 86">
                <a:extLst>
                  <a:ext uri="{FF2B5EF4-FFF2-40B4-BE49-F238E27FC236}">
                    <a16:creationId xmlns:a16="http://schemas.microsoft.com/office/drawing/2014/main" id="{0E0B40C5-09F2-9025-13AE-E36868BB3B0E}"/>
                  </a:ext>
                </a:extLst>
              </p:cNvPr>
              <p:cNvSpPr/>
              <p:nvPr/>
            </p:nvSpPr>
            <p:spPr>
              <a:xfrm>
                <a:off x="7447280" y="3841662"/>
                <a:ext cx="2334597" cy="1141092"/>
              </a:xfrm>
              <a:custGeom>
                <a:avLst/>
                <a:gdLst>
                  <a:gd name="csX0" fmla="*/ 1815251 w 2334597"/>
                  <a:gd name="csY0" fmla="*/ 0 h 1141092"/>
                  <a:gd name="csX1" fmla="*/ 2334597 w 2334597"/>
                  <a:gd name="csY1" fmla="*/ 0 h 1141092"/>
                  <a:gd name="csX2" fmla="*/ 2334597 w 2334597"/>
                  <a:gd name="csY2" fmla="*/ 1141092 h 1141092"/>
                  <a:gd name="csX3" fmla="*/ 2332567 w 2334597"/>
                  <a:gd name="csY3" fmla="*/ 1141092 h 1141092"/>
                  <a:gd name="csX4" fmla="*/ 1815251 w 2334597"/>
                  <a:gd name="csY4" fmla="*/ 1141092 h 1141092"/>
                  <a:gd name="csX5" fmla="*/ 0 w 2334597"/>
                  <a:gd name="csY5" fmla="*/ 1141092 h 1141092"/>
                  <a:gd name="csX6" fmla="*/ 0 w 2334597"/>
                  <a:gd name="csY6" fmla="*/ 778422 h 1141092"/>
                  <a:gd name="csX7" fmla="*/ 1815251 w 2334597"/>
                  <a:gd name="csY7" fmla="*/ 778422 h 1141092"/>
                  <a:gd name="csX8" fmla="*/ 1815251 w 2334597"/>
                  <a:gd name="csY8" fmla="*/ 362671 h 1141092"/>
                  <a:gd name="csX9" fmla="*/ 0 w 2334597"/>
                  <a:gd name="csY9" fmla="*/ 362671 h 1141092"/>
                  <a:gd name="csX10" fmla="*/ 0 w 2334597"/>
                  <a:gd name="csY10" fmla="*/ 1 h 1141092"/>
                  <a:gd name="csX11" fmla="*/ 1815251 w 2334597"/>
                  <a:gd name="csY11" fmla="*/ 1 h 114109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2334597" h="1141092">
                    <a:moveTo>
                      <a:pt x="1815251" y="0"/>
                    </a:moveTo>
                    <a:lnTo>
                      <a:pt x="2334597" y="0"/>
                    </a:lnTo>
                    <a:lnTo>
                      <a:pt x="2334597" y="1141092"/>
                    </a:lnTo>
                    <a:lnTo>
                      <a:pt x="2332567" y="1141092"/>
                    </a:lnTo>
                    <a:lnTo>
                      <a:pt x="1815251" y="1141092"/>
                    </a:lnTo>
                    <a:lnTo>
                      <a:pt x="0" y="1141092"/>
                    </a:lnTo>
                    <a:lnTo>
                      <a:pt x="0" y="778422"/>
                    </a:lnTo>
                    <a:lnTo>
                      <a:pt x="1815251" y="778422"/>
                    </a:lnTo>
                    <a:lnTo>
                      <a:pt x="1815251" y="362671"/>
                    </a:lnTo>
                    <a:lnTo>
                      <a:pt x="0" y="362671"/>
                    </a:lnTo>
                    <a:lnTo>
                      <a:pt x="0" y="1"/>
                    </a:lnTo>
                    <a:lnTo>
                      <a:pt x="1815251" y="1"/>
                    </a:lnTo>
                    <a:close/>
                  </a:path>
                </a:pathLst>
              </a:custGeom>
              <a:solidFill>
                <a:schemeClr val="accent6">
                  <a:lumMod val="40000"/>
                  <a:lumOff val="60000"/>
                  <a:alpha val="51000"/>
                </a:schemeClr>
              </a:solidFill>
              <a:ln>
                <a:solidFill>
                  <a:srgbClr val="FF6600"/>
                </a:solidFill>
                <a:prstDash val="dash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</p:grpSp>
        <p:sp>
          <p:nvSpPr>
            <p:cNvPr id="90" name="직사각형 89">
              <a:extLst>
                <a:ext uri="{FF2B5EF4-FFF2-40B4-BE49-F238E27FC236}">
                  <a16:creationId xmlns:a16="http://schemas.microsoft.com/office/drawing/2014/main" id="{C8919171-5BBC-8EB3-FC25-CEC7318E50C8}"/>
                </a:ext>
              </a:extLst>
            </p:cNvPr>
            <p:cNvSpPr/>
            <p:nvPr/>
          </p:nvSpPr>
          <p:spPr>
            <a:xfrm>
              <a:off x="7609842" y="4092811"/>
              <a:ext cx="1775459" cy="329868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accent3">
                  <a:lumMod val="75000"/>
                </a:schemeClr>
              </a:solidFill>
              <a:prstDash val="sysDot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4" name="그룹 93">
            <a:extLst>
              <a:ext uri="{FF2B5EF4-FFF2-40B4-BE49-F238E27FC236}">
                <a16:creationId xmlns:a16="http://schemas.microsoft.com/office/drawing/2014/main" id="{59E80654-ACD6-EEB8-1FFA-5026578C6ADC}"/>
              </a:ext>
            </a:extLst>
          </p:cNvPr>
          <p:cNvGrpSpPr/>
          <p:nvPr/>
        </p:nvGrpSpPr>
        <p:grpSpPr>
          <a:xfrm rot="21238330">
            <a:off x="9033902" y="3126395"/>
            <a:ext cx="1054926" cy="345011"/>
            <a:chOff x="6083109" y="4170560"/>
            <a:chExt cx="1564687" cy="511727"/>
          </a:xfrm>
        </p:grpSpPr>
        <p:pic>
          <p:nvPicPr>
            <p:cNvPr id="82" name="그림 81">
              <a:extLst>
                <a:ext uri="{FF2B5EF4-FFF2-40B4-BE49-F238E27FC236}">
                  <a16:creationId xmlns:a16="http://schemas.microsoft.com/office/drawing/2014/main" id="{6A36691B-E209-521E-B6C0-3C69C38919D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0392" t="79073" r="57408" b="8050"/>
            <a:stretch>
              <a:fillRect/>
            </a:stretch>
          </p:blipFill>
          <p:spPr>
            <a:xfrm rot="21278377">
              <a:off x="6083109" y="4170560"/>
              <a:ext cx="1564077" cy="511727"/>
            </a:xfrm>
            <a:prstGeom prst="rect">
              <a:avLst/>
            </a:prstGeom>
          </p:spPr>
        </p:pic>
        <p:sp>
          <p:nvSpPr>
            <p:cNvPr id="93" name="타원 92">
              <a:extLst>
                <a:ext uri="{FF2B5EF4-FFF2-40B4-BE49-F238E27FC236}">
                  <a16:creationId xmlns:a16="http://schemas.microsoft.com/office/drawing/2014/main" id="{92A48802-DD01-7AE6-9430-16B841BB47A0}"/>
                </a:ext>
              </a:extLst>
            </p:cNvPr>
            <p:cNvSpPr/>
            <p:nvPr/>
          </p:nvSpPr>
          <p:spPr>
            <a:xfrm flipH="1">
              <a:off x="7573423" y="4308006"/>
              <a:ext cx="74373" cy="74373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97" name="Connector 9">
            <a:extLst>
              <a:ext uri="{FF2B5EF4-FFF2-40B4-BE49-F238E27FC236}">
                <a16:creationId xmlns:a16="http://schemas.microsoft.com/office/drawing/2014/main" id="{832F27A7-6936-79C7-18D3-DB1D55663BA5}"/>
              </a:ext>
            </a:extLst>
          </p:cNvPr>
          <p:cNvCxnSpPr>
            <a:cxnSpLocks/>
          </p:cNvCxnSpPr>
          <p:nvPr/>
        </p:nvCxnSpPr>
        <p:spPr>
          <a:xfrm>
            <a:off x="8541219" y="2823858"/>
            <a:ext cx="1486443" cy="0"/>
          </a:xfrm>
          <a:prstGeom prst="line">
            <a:avLst/>
          </a:prstGeom>
          <a:ln w="25400">
            <a:solidFill>
              <a:srgbClr val="FF6600"/>
            </a:solidFill>
            <a:prstDash val="dash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Connector 9">
            <a:extLst>
              <a:ext uri="{FF2B5EF4-FFF2-40B4-BE49-F238E27FC236}">
                <a16:creationId xmlns:a16="http://schemas.microsoft.com/office/drawing/2014/main" id="{83B246D0-688C-3246-D619-F6270D2D884F}"/>
              </a:ext>
            </a:extLst>
          </p:cNvPr>
          <p:cNvCxnSpPr>
            <a:cxnSpLocks/>
          </p:cNvCxnSpPr>
          <p:nvPr/>
        </p:nvCxnSpPr>
        <p:spPr>
          <a:xfrm>
            <a:off x="11672989" y="2823858"/>
            <a:ext cx="300074" cy="0"/>
          </a:xfrm>
          <a:prstGeom prst="line">
            <a:avLst/>
          </a:prstGeom>
          <a:ln w="25400">
            <a:solidFill>
              <a:srgbClr val="FF6600"/>
            </a:solidFill>
            <a:prstDash val="dash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6" name="Rectangle 8">
            <a:extLst>
              <a:ext uri="{FF2B5EF4-FFF2-40B4-BE49-F238E27FC236}">
                <a16:creationId xmlns:a16="http://schemas.microsoft.com/office/drawing/2014/main" id="{BEDC0A7D-109C-E88D-61FE-6EE7331E15FC}"/>
              </a:ext>
            </a:extLst>
          </p:cNvPr>
          <p:cNvSpPr/>
          <p:nvPr/>
        </p:nvSpPr>
        <p:spPr>
          <a:xfrm>
            <a:off x="8459979" y="2753109"/>
            <a:ext cx="3513084" cy="64185"/>
          </a:xfrm>
          <a:prstGeom prst="rect">
            <a:avLst/>
          </a:prstGeom>
          <a:solidFill>
            <a:srgbClr val="FBE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73958027-6BBA-F37E-2862-A8FA9EEB00C1}"/>
                  </a:ext>
                </a:extLst>
              </p:cNvPr>
              <p:cNvSpPr txBox="1"/>
              <p:nvPr/>
            </p:nvSpPr>
            <p:spPr>
              <a:xfrm>
                <a:off x="10201875" y="3075611"/>
                <a:ext cx="1076162" cy="2539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50" b="1" i="0" dirty="0">
                    <a:solidFill>
                      <a:srgbClr val="3E8E3E"/>
                    </a:solidFill>
                    <a:latin typeface="Arial"/>
                  </a:rPr>
                  <a:t>Target set  </a:t>
                </a:r>
                <a14:m>
                  <m:oMath xmlns:m="http://schemas.openxmlformats.org/officeDocument/2006/math">
                    <m:r>
                      <a:rPr lang="ko-KR" altLang="en-US" sz="1050" b="1" i="1" smtClean="0">
                        <a:solidFill>
                          <a:srgbClr val="3E8E3E"/>
                        </a:solidFill>
                        <a:latin typeface="Cambria Math" panose="02040503050406030204" pitchFamily="18" charset="0"/>
                      </a:rPr>
                      <m:t>𝓣</m:t>
                    </m:r>
                  </m:oMath>
                </a14:m>
                <a:endParaRPr lang="ko-KR" altLang="en-US" sz="1050" dirty="0"/>
              </a:p>
            </p:txBody>
          </p:sp>
        </mc:Choice>
        <mc:Fallback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73958027-6BBA-F37E-2862-A8FA9EEB00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01875" y="3075611"/>
                <a:ext cx="1076162" cy="253916"/>
              </a:xfrm>
              <a:prstGeom prst="rect">
                <a:avLst/>
              </a:prstGeom>
              <a:blipFill>
                <a:blip r:embed="rId6"/>
                <a:stretch>
                  <a:fillRect b="-1463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0FA29CDA-9A15-2ABF-38AD-D9B27FCE705A}"/>
              </a:ext>
            </a:extLst>
          </p:cNvPr>
          <p:cNvSpPr txBox="1"/>
          <p:nvPr/>
        </p:nvSpPr>
        <p:spPr>
          <a:xfrm>
            <a:off x="9468159" y="3959879"/>
            <a:ext cx="3503855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100" b="1" i="0" dirty="0">
                <a:solidFill>
                  <a:srgbClr val="304055"/>
                </a:solidFill>
                <a:latin typeface="Arial"/>
              </a:rPr>
              <a:t>Target and collision sets</a:t>
            </a:r>
            <a:endParaRPr sz="1100" b="1" i="0" dirty="0">
              <a:solidFill>
                <a:srgbClr val="304055"/>
              </a:solidFill>
              <a:latin typeface="Arial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4ED876A-66B5-83AA-D40A-8D4A406CCF8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8821" t="1516" r="3964" b="66897"/>
          <a:stretch>
            <a:fillRect/>
          </a:stretch>
        </p:blipFill>
        <p:spPr>
          <a:xfrm>
            <a:off x="4603343" y="220723"/>
            <a:ext cx="5962458" cy="1439600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9BEDA343-17A0-9E06-99F7-9AE494BCFE8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2562" t="25205" r="31139" b="66897"/>
          <a:stretch>
            <a:fillRect/>
          </a:stretch>
        </p:blipFill>
        <p:spPr>
          <a:xfrm>
            <a:off x="8292057" y="2447992"/>
            <a:ext cx="3848926" cy="359970"/>
          </a:xfrm>
          <a:custGeom>
            <a:avLst/>
            <a:gdLst>
              <a:gd name="csX0" fmla="*/ 241560 w 3848926"/>
              <a:gd name="csY0" fmla="*/ 0 h 359970"/>
              <a:gd name="csX1" fmla="*/ 3607366 w 3848926"/>
              <a:gd name="csY1" fmla="*/ 0 h 359970"/>
              <a:gd name="csX2" fmla="*/ 3848926 w 3848926"/>
              <a:gd name="csY2" fmla="*/ 241560 h 359970"/>
              <a:gd name="csX3" fmla="*/ 3848926 w 3848926"/>
              <a:gd name="csY3" fmla="*/ 359970 h 359970"/>
              <a:gd name="csX4" fmla="*/ 0 w 3848926"/>
              <a:gd name="csY4" fmla="*/ 359970 h 359970"/>
              <a:gd name="csX5" fmla="*/ 0 w 3848926"/>
              <a:gd name="csY5" fmla="*/ 241560 h 359970"/>
              <a:gd name="csX6" fmla="*/ 241560 w 3848926"/>
              <a:gd name="csY6" fmla="*/ 0 h 3599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848926" h="359970">
                <a:moveTo>
                  <a:pt x="241560" y="0"/>
                </a:moveTo>
                <a:lnTo>
                  <a:pt x="3607366" y="0"/>
                </a:lnTo>
                <a:cubicBezTo>
                  <a:pt x="3740776" y="0"/>
                  <a:pt x="3848926" y="108150"/>
                  <a:pt x="3848926" y="241560"/>
                </a:cubicBezTo>
                <a:lnTo>
                  <a:pt x="3848926" y="359970"/>
                </a:lnTo>
                <a:lnTo>
                  <a:pt x="0" y="359970"/>
                </a:lnTo>
                <a:lnTo>
                  <a:pt x="0" y="241560"/>
                </a:lnTo>
                <a:cubicBezTo>
                  <a:pt x="0" y="108150"/>
                  <a:pt x="108150" y="0"/>
                  <a:pt x="241560" y="0"/>
                </a:cubicBezTo>
                <a:close/>
              </a:path>
            </a:pathLst>
          </a:custGeom>
        </p:spPr>
      </p:pic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F57FBD1B-F054-B6B3-3C68-371F965982A8}"/>
              </a:ext>
            </a:extLst>
          </p:cNvPr>
          <p:cNvSpPr/>
          <p:nvPr/>
        </p:nvSpPr>
        <p:spPr>
          <a:xfrm>
            <a:off x="8285832" y="2439707"/>
            <a:ext cx="3848926" cy="1449329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40359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</TotalTime>
  <Words>143</Words>
  <Application>Microsoft Office PowerPoint</Application>
  <PresentationFormat>사용자 지정</PresentationFormat>
  <Paragraphs>30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6" baseType="lpstr">
      <vt:lpstr>Arial</vt:lpstr>
      <vt:lpstr>Calibri</vt:lpstr>
      <vt:lpstr>Cambria Math</vt:lpstr>
      <vt:lpstr>Office Theme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박기용</cp:lastModifiedBy>
  <cp:revision>20</cp:revision>
  <dcterms:created xsi:type="dcterms:W3CDTF">2013-01-27T09:14:16Z</dcterms:created>
  <dcterms:modified xsi:type="dcterms:W3CDTF">2026-09-01T00:55:40Z</dcterms:modified>
  <cp:category/>
</cp:coreProperties>
</file>