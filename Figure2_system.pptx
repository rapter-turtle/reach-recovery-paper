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035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6525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620" y="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411480"/>
            <a:ext cx="10085832" cy="1188720"/>
          </a:xfrm>
          <a:prstGeom prst="rect">
            <a:avLst/>
          </a:prstGeom>
          <a:solidFill>
            <a:srgbClr val="C9CED4"/>
          </a:solidFill>
          <a:ln w="2032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480560" y="438912"/>
            <a:ext cx="1280160" cy="274320"/>
          </a:xfrm>
          <a:prstGeom prst="rect">
            <a:avLst/>
          </a:prstGeom>
          <a:solidFill>
            <a:srgbClr val="B9C0C8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438912"/>
            <a:ext cx="1097280" cy="274320"/>
          </a:xfrm>
          <a:prstGeom prst="rect">
            <a:avLst/>
          </a:prstGeom>
          <a:solidFill>
            <a:srgbClr val="B9C0C8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438912"/>
            <a:ext cx="2011680" cy="274320"/>
          </a:xfrm>
          <a:prstGeom prst="rect">
            <a:avLst/>
          </a:prstGeom>
          <a:solidFill>
            <a:srgbClr val="B9C0C8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0" y="10698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555F6B"/>
                </a:solidFill>
                <a:latin typeface="Arial"/>
              </a:rPr>
              <a:t>Mothership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80" y="228600"/>
            <a:ext cx="2743200" cy="0"/>
          </a:xfrm>
          <a:prstGeom prst="line">
            <a:avLst/>
          </a:prstGeom>
          <a:ln w="38100">
            <a:solidFill>
              <a:srgbClr val="3040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63440" y="-15544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04055"/>
                </a:solidFill>
                <a:latin typeface="Arial"/>
              </a:rPr>
              <a:t>Vₛ   (mothership advances)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609344"/>
            <a:ext cx="12188952" cy="91440"/>
          </a:xfrm>
          <a:prstGeom prst="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0" y="1700784"/>
            <a:ext cx="12188952" cy="0"/>
          </a:xfrm>
          <a:prstGeom prst="line">
            <a:avLst/>
          </a:prstGeom>
          <a:ln w="3302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" y="1691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1">
                <a:solidFill>
                  <a:srgbClr val="E8A33D"/>
                </a:solidFill>
                <a:latin typeface="Arial"/>
              </a:rPr>
              <a:t>mothership side boundary  ∈ 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157984"/>
            <a:ext cx="5943600" cy="1408176"/>
          </a:xfrm>
          <a:custGeom>
            <a:avLst/>
            <a:gdLst/>
            <a:ahLst/>
            <a:cxnLst/>
            <a:rect l="0" t="0" r="5943600" b="1408176"/>
            <a:pathLst>
              <a:path w="5943600" h="1408176">
                <a:moveTo>
                  <a:pt x="45720" y="813816"/>
                </a:moveTo>
                <a:cubicBezTo>
                  <a:pt x="0" y="310896"/>
                  <a:pt x="502920" y="36576"/>
                  <a:pt x="1463040" y="18288"/>
                </a:cubicBezTo>
                <a:cubicBezTo>
                  <a:pt x="2926080" y="0"/>
                  <a:pt x="4434840" y="219456"/>
                  <a:pt x="5943600" y="493776"/>
                </a:cubicBezTo>
                <a:cubicBezTo>
                  <a:pt x="4434840" y="768096"/>
                  <a:pt x="2834640" y="1362456"/>
                  <a:pt x="1463040" y="1408176"/>
                </a:cubicBezTo>
                <a:cubicBezTo>
                  <a:pt x="502920" y="1408176"/>
                  <a:pt x="91440" y="1179576"/>
                  <a:pt x="45720" y="813816"/>
                </a:cubicBezTo>
                <a:close/>
              </a:path>
            </a:pathLst>
          </a:custGeom>
          <a:solidFill>
            <a:srgbClr val="BFE0B8">
              <a:alpha val="42000"/>
            </a:srgbClr>
          </a:solidFill>
          <a:ln w="25400">
            <a:solidFill>
              <a:srgbClr val="3E8E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34107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1">
                <a:solidFill>
                  <a:srgbClr val="3E8E3E"/>
                </a:solidFill>
                <a:latin typeface="Arial"/>
              </a:rPr>
              <a:t>reach avoid set  (V(s) ≤ 0)</a:t>
            </a:r>
          </a:p>
        </p:txBody>
      </p:sp>
      <p:sp>
        <p:nvSpPr>
          <p:cNvPr id="14" name="Freeform 13"/>
          <p:cNvSpPr/>
          <p:nvPr/>
        </p:nvSpPr>
        <p:spPr>
          <a:xfrm>
            <a:off x="868680" y="2816352"/>
            <a:ext cx="4526280" cy="932688"/>
          </a:xfrm>
          <a:custGeom>
            <a:avLst/>
            <a:gdLst/>
            <a:ahLst/>
            <a:cxnLst/>
            <a:rect l="l" t="t" r="r" b="b"/>
            <a:pathLst>
              <a:path w="4526280" h="932688">
                <a:moveTo>
                  <a:pt x="0" y="932688"/>
                </a:moveTo>
                <a:lnTo>
                  <a:pt x="960120" y="658368"/>
                </a:lnTo>
                <a:lnTo>
                  <a:pt x="2057400" y="365760"/>
                </a:lnTo>
                <a:lnTo>
                  <a:pt x="3063240" y="146304"/>
                </a:lnTo>
                <a:lnTo>
                  <a:pt x="4160520" y="18288"/>
                </a:lnTo>
                <a:lnTo>
                  <a:pt x="4526280" y="0"/>
                </a:lnTo>
              </a:path>
            </a:pathLst>
          </a:custGeom>
          <a:noFill/>
          <a:ln w="38100">
            <a:solidFill>
              <a:srgbClr val="2E6DA4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5715000" y="2615184"/>
            <a:ext cx="4297680" cy="182880"/>
          </a:xfrm>
          <a:custGeom>
            <a:avLst/>
            <a:gdLst/>
            <a:ahLst/>
            <a:cxnLst/>
            <a:rect l="l" t="t" r="r" b="b"/>
            <a:pathLst>
              <a:path w="4297680" h="182880">
                <a:moveTo>
                  <a:pt x="0" y="182880"/>
                </a:moveTo>
                <a:lnTo>
                  <a:pt x="1234440" y="109728"/>
                </a:lnTo>
                <a:lnTo>
                  <a:pt x="2423160" y="54864"/>
                </a:lnTo>
                <a:lnTo>
                  <a:pt x="3611880" y="18288"/>
                </a:lnTo>
                <a:lnTo>
                  <a:pt x="4297680" y="0"/>
                </a:lnTo>
              </a:path>
            </a:pathLst>
          </a:custGeom>
          <a:noFill/>
          <a:ln w="38100">
            <a:solidFill>
              <a:srgbClr val="C039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48656" y="2715768"/>
            <a:ext cx="201168" cy="2011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808" y="2788920"/>
            <a:ext cx="54864" cy="54864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2951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  <a:latin typeface="Arial"/>
              </a:rPr>
              <a:t>DP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94976" y="2148840"/>
            <a:ext cx="1170432" cy="932688"/>
          </a:xfrm>
          <a:prstGeom prst="roundRect">
            <a:avLst/>
          </a:prstGeom>
          <a:noFill/>
          <a:ln w="3810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48672" y="17373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Cradle</a:t>
            </a:r>
          </a:p>
        </p:txBody>
      </p:sp>
      <p:sp>
        <p:nvSpPr>
          <p:cNvPr id="21" name="Freeform 20"/>
          <p:cNvSpPr/>
          <p:nvPr/>
        </p:nvSpPr>
        <p:spPr>
          <a:xfrm>
            <a:off x="778136" y="3557554"/>
            <a:ext cx="602672" cy="462677"/>
          </a:xfrm>
          <a:custGeom>
            <a:avLst/>
            <a:gdLst/>
            <a:ahLst/>
            <a:cxnLst/>
            <a:rect l="l" t="t" r="r" b="b"/>
            <a:pathLst>
              <a:path w="602672" h="462677">
                <a:moveTo>
                  <a:pt x="0" y="169372"/>
                </a:moveTo>
                <a:lnTo>
                  <a:pt x="332412" y="0"/>
                </a:lnTo>
                <a:lnTo>
                  <a:pt x="602672" y="47021"/>
                </a:lnTo>
                <a:lnTo>
                  <a:pt x="481859" y="293305"/>
                </a:lnTo>
                <a:lnTo>
                  <a:pt x="149446" y="462677"/>
                </a:lnTo>
                <a:close/>
              </a:path>
            </a:pathLst>
          </a:custGeom>
          <a:solidFill>
            <a:srgbClr val="EAF2FA"/>
          </a:solidFill>
          <a:ln w="2159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976908" y="3655601"/>
            <a:ext cx="211413" cy="201822"/>
          </a:xfrm>
          <a:custGeom>
            <a:avLst/>
            <a:gdLst/>
            <a:ahLst/>
            <a:cxnLst/>
            <a:rect l="l" t="t" r="r" b="b"/>
            <a:pathLst>
              <a:path w="211413" h="201822">
                <a:moveTo>
                  <a:pt x="0" y="74723"/>
                </a:moveTo>
                <a:lnTo>
                  <a:pt x="146653" y="0"/>
                </a:lnTo>
                <a:lnTo>
                  <a:pt x="211413" y="127099"/>
                </a:lnTo>
                <a:lnTo>
                  <a:pt x="64761" y="201822"/>
                </a:lnTo>
                <a:close/>
              </a:path>
            </a:pathLst>
          </a:custGeom>
          <a:solidFill>
            <a:srgbClr val="9DC3E6"/>
          </a:solidFill>
          <a:ln w="635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2333582" y="3100933"/>
            <a:ext cx="606575" cy="456011"/>
          </a:xfrm>
          <a:custGeom>
            <a:avLst/>
            <a:gdLst/>
            <a:ahLst/>
            <a:cxnLst/>
            <a:rect l="l" t="t" r="r" b="b"/>
            <a:pathLst>
              <a:path w="606575" h="456011">
                <a:moveTo>
                  <a:pt x="0" y="157669"/>
                </a:moveTo>
                <a:lnTo>
                  <a:pt x="338121" y="0"/>
                </a:lnTo>
                <a:lnTo>
                  <a:pt x="606575" y="56425"/>
                </a:lnTo>
                <a:lnTo>
                  <a:pt x="477240" y="298342"/>
                </a:lnTo>
                <a:lnTo>
                  <a:pt x="139119" y="456011"/>
                </a:lnTo>
                <a:close/>
              </a:path>
            </a:pathLst>
          </a:custGeom>
          <a:solidFill>
            <a:srgbClr val="EAF2FA"/>
          </a:solidFill>
          <a:ln w="2159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2532115" y="3199375"/>
            <a:ext cx="209456" cy="198842"/>
          </a:xfrm>
          <a:custGeom>
            <a:avLst/>
            <a:gdLst/>
            <a:ahLst/>
            <a:cxnLst/>
            <a:rect l="l" t="t" r="r" b="b"/>
            <a:pathLst>
              <a:path w="209456" h="198842">
                <a:moveTo>
                  <a:pt x="0" y="69560"/>
                </a:moveTo>
                <a:lnTo>
                  <a:pt x="149171" y="0"/>
                </a:lnTo>
                <a:lnTo>
                  <a:pt x="209456" y="129282"/>
                </a:lnTo>
                <a:lnTo>
                  <a:pt x="60285" y="198842"/>
                </a:lnTo>
                <a:close/>
              </a:path>
            </a:pathLst>
          </a:custGeom>
          <a:solidFill>
            <a:srgbClr val="9DC3E6"/>
          </a:solidFill>
          <a:ln w="635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7764162" y="2500513"/>
            <a:ext cx="600333" cy="348258"/>
          </a:xfrm>
          <a:custGeom>
            <a:avLst/>
            <a:gdLst/>
            <a:ahLst/>
            <a:cxnLst/>
            <a:rect l="l" t="t" r="r" b="b"/>
            <a:pathLst>
              <a:path w="600333" h="348258">
                <a:moveTo>
                  <a:pt x="0" y="19525"/>
                </a:moveTo>
                <a:lnTo>
                  <a:pt x="372564" y="0"/>
                </a:lnTo>
                <a:lnTo>
                  <a:pt x="600333" y="152881"/>
                </a:lnTo>
                <a:lnTo>
                  <a:pt x="389792" y="328733"/>
                </a:lnTo>
                <a:lnTo>
                  <a:pt x="17228" y="348258"/>
                </a:lnTo>
                <a:close/>
              </a:path>
            </a:pathLst>
          </a:custGeom>
          <a:solidFill>
            <a:srgbClr val="F6D9D5"/>
          </a:solidFill>
          <a:ln w="2159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7944367" y="2595377"/>
            <a:ext cx="171832" cy="151065"/>
          </a:xfrm>
          <a:custGeom>
            <a:avLst/>
            <a:gdLst/>
            <a:ahLst/>
            <a:cxnLst/>
            <a:rect l="l" t="t" r="r" b="b"/>
            <a:pathLst>
              <a:path w="171832" h="151065">
                <a:moveTo>
                  <a:pt x="0" y="8614"/>
                </a:moveTo>
                <a:lnTo>
                  <a:pt x="164367" y="0"/>
                </a:lnTo>
                <a:lnTo>
                  <a:pt x="171832" y="142451"/>
                </a:lnTo>
                <a:lnTo>
                  <a:pt x="7466" y="151065"/>
                </a:lnTo>
                <a:close/>
              </a:path>
            </a:pathLst>
          </a:custGeom>
          <a:solidFill>
            <a:srgbClr val="E3A59E"/>
          </a:solidFill>
          <a:ln w="6350">
            <a:solidFill>
              <a:srgbClr val="E3A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10147009" y="2448894"/>
            <a:ext cx="595314" cy="335644"/>
          </a:xfrm>
          <a:custGeom>
            <a:avLst/>
            <a:gdLst/>
            <a:ahLst/>
            <a:cxnLst/>
            <a:rect l="l" t="t" r="r" b="b"/>
            <a:pathLst>
              <a:path w="595314" h="335644">
                <a:moveTo>
                  <a:pt x="0" y="6511"/>
                </a:moveTo>
                <a:lnTo>
                  <a:pt x="373019" y="0"/>
                </a:lnTo>
                <a:lnTo>
                  <a:pt x="595314" y="160736"/>
                </a:lnTo>
                <a:lnTo>
                  <a:pt x="378764" y="329133"/>
                </a:lnTo>
                <a:lnTo>
                  <a:pt x="5745" y="335644"/>
                </a:lnTo>
                <a:close/>
              </a:path>
            </a:pathLst>
          </a:custGeom>
          <a:solidFill>
            <a:srgbClr val="F6D9D5"/>
          </a:solidFill>
          <a:ln w="2159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10324175" y="2542723"/>
            <a:ext cx="167057" cy="145497"/>
          </a:xfrm>
          <a:custGeom>
            <a:avLst/>
            <a:gdLst/>
            <a:ahLst/>
            <a:cxnLst/>
            <a:rect l="l" t="t" r="r" b="b"/>
            <a:pathLst>
              <a:path w="167057" h="145497">
                <a:moveTo>
                  <a:pt x="0" y="2872"/>
                </a:moveTo>
                <a:lnTo>
                  <a:pt x="164567" y="0"/>
                </a:lnTo>
                <a:lnTo>
                  <a:pt x="167057" y="142624"/>
                </a:lnTo>
                <a:lnTo>
                  <a:pt x="2490" y="145497"/>
                </a:lnTo>
                <a:close/>
              </a:path>
            </a:pathLst>
          </a:custGeom>
          <a:solidFill>
            <a:srgbClr val="E3A59E"/>
          </a:solidFill>
          <a:ln w="6350">
            <a:solidFill>
              <a:srgbClr val="E3A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5-Point Star 28"/>
          <p:cNvSpPr/>
          <p:nvPr/>
        </p:nvSpPr>
        <p:spPr>
          <a:xfrm>
            <a:off x="10863072" y="2505456"/>
            <a:ext cx="219456" cy="219456"/>
          </a:xfrm>
          <a:prstGeom prst="star5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11018520" y="2743200"/>
            <a:ext cx="320040" cy="22860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853928" y="280720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Arial"/>
              </a:rPr>
              <a:t>cradle center</a:t>
            </a:r>
          </a:p>
        </p:txBody>
      </p:sp>
      <p:sp>
        <p:nvSpPr>
          <p:cNvPr id="32" name="Freeform 31"/>
          <p:cNvSpPr/>
          <p:nvPr/>
        </p:nvSpPr>
        <p:spPr>
          <a:xfrm>
            <a:off x="320040" y="2889504"/>
            <a:ext cx="493776" cy="164592"/>
          </a:xfrm>
          <a:custGeom>
            <a:avLst/>
            <a:gdLst/>
            <a:ahLst/>
            <a:cxnLst/>
            <a:rect l="l" t="t" r="r" b="b"/>
            <a:pathLst>
              <a:path w="493776" h="164592">
                <a:moveTo>
                  <a:pt x="0" y="82296"/>
                </a:moveTo>
                <a:lnTo>
                  <a:pt x="164592" y="0"/>
                </a:lnTo>
                <a:lnTo>
                  <a:pt x="329184" y="164592"/>
                </a:lnTo>
                <a:lnTo>
                  <a:pt x="493776" y="82296"/>
                </a:lnTo>
              </a:path>
            </a:pathLst>
          </a:custGeom>
          <a:noFill/>
          <a:ln w="20320">
            <a:solidFill>
              <a:srgbClr val="2A8AA8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320040" y="2615184"/>
            <a:ext cx="493776" cy="164592"/>
          </a:xfrm>
          <a:custGeom>
            <a:avLst/>
            <a:gdLst/>
            <a:ahLst/>
            <a:cxnLst/>
            <a:rect l="l" t="t" r="r" b="b"/>
            <a:pathLst>
              <a:path w="493776" h="164592">
                <a:moveTo>
                  <a:pt x="0" y="82296"/>
                </a:moveTo>
                <a:lnTo>
                  <a:pt x="164592" y="0"/>
                </a:lnTo>
                <a:lnTo>
                  <a:pt x="329184" y="164592"/>
                </a:lnTo>
                <a:lnTo>
                  <a:pt x="493776" y="82296"/>
                </a:lnTo>
              </a:path>
            </a:pathLst>
          </a:custGeom>
          <a:noFill/>
          <a:ln w="20320">
            <a:solidFill>
              <a:srgbClr val="2A8AA8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320040" y="2340864"/>
            <a:ext cx="493776" cy="164592"/>
          </a:xfrm>
          <a:custGeom>
            <a:avLst/>
            <a:gdLst/>
            <a:ahLst/>
            <a:cxnLst/>
            <a:rect l="l" t="t" r="r" b="b"/>
            <a:pathLst>
              <a:path w="493776" h="164592">
                <a:moveTo>
                  <a:pt x="0" y="82296"/>
                </a:moveTo>
                <a:lnTo>
                  <a:pt x="164592" y="0"/>
                </a:lnTo>
                <a:lnTo>
                  <a:pt x="329184" y="164592"/>
                </a:lnTo>
                <a:lnTo>
                  <a:pt x="493776" y="82296"/>
                </a:lnTo>
              </a:path>
            </a:pathLst>
          </a:custGeom>
          <a:noFill/>
          <a:ln w="20320">
            <a:solidFill>
              <a:srgbClr val="2A8AA8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-45720" y="1920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A8AA8"/>
                </a:solidFill>
                <a:latin typeface="Arial"/>
              </a:rPr>
              <a:t>disturbance  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137160" y="2130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2A8AA8"/>
                </a:solidFill>
                <a:latin typeface="Arial"/>
              </a:rPr>
              <a:t>(wind, waves, current)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56648" y="1641348"/>
            <a:ext cx="1920240" cy="1508760"/>
          </a:xfrm>
          <a:prstGeom prst="rect">
            <a:avLst/>
          </a:prstGeom>
          <a:noFill/>
          <a:ln w="1778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46520" y="3703320"/>
            <a:ext cx="5486400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 flipH="1">
            <a:off x="6446520" y="3150108"/>
            <a:ext cx="3310128" cy="553212"/>
          </a:xfrm>
          <a:prstGeom prst="line">
            <a:avLst/>
          </a:prstGeom>
          <a:ln w="1397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76888" y="3150108"/>
            <a:ext cx="256032" cy="553212"/>
          </a:xfrm>
          <a:prstGeom prst="line">
            <a:avLst/>
          </a:prstGeom>
          <a:ln w="1397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977604" y="3813048"/>
            <a:ext cx="4845588" cy="367588"/>
          </a:xfrm>
          <a:prstGeom prst="rect">
            <a:avLst/>
          </a:prstGeom>
          <a:solidFill>
            <a:srgbClr val="C9CED4"/>
          </a:solidFill>
          <a:ln w="1524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376824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555F6B"/>
                </a:solidFill>
                <a:latin typeface="Arial"/>
              </a:rPr>
              <a:t>mothership side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56248" y="4180637"/>
            <a:ext cx="5266944" cy="0"/>
          </a:xfrm>
          <a:prstGeom prst="line">
            <a:avLst/>
          </a:prstGeom>
          <a:ln w="3048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45788" y="40990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1">
                <a:solidFill>
                  <a:srgbClr val="C0392B"/>
                </a:solidFill>
                <a:latin typeface="Arial"/>
              </a:rPr>
              <a:t>side boundary ∈ 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47009" y="4217396"/>
            <a:ext cx="2844149" cy="183794"/>
          </a:xfrm>
          <a:prstGeom prst="rect">
            <a:avLst/>
          </a:prstGeom>
          <a:solidFill>
            <a:srgbClr val="F6D9D5"/>
          </a:solidFill>
          <a:ln w="1778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875142" y="4217396"/>
            <a:ext cx="316016" cy="992489"/>
          </a:xfrm>
          <a:prstGeom prst="rect">
            <a:avLst/>
          </a:prstGeom>
          <a:solidFill>
            <a:srgbClr val="F6D9D5"/>
          </a:solidFill>
          <a:ln w="1778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47009" y="5026091"/>
            <a:ext cx="2844149" cy="183794"/>
          </a:xfrm>
          <a:prstGeom prst="rect">
            <a:avLst/>
          </a:prstGeom>
          <a:solidFill>
            <a:srgbClr val="F6D9D5"/>
          </a:solidFill>
          <a:ln w="1778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63026" y="4474708"/>
            <a:ext cx="2106777" cy="477865"/>
          </a:xfrm>
          <a:prstGeom prst="rect">
            <a:avLst/>
          </a:prstGeom>
          <a:solidFill>
            <a:srgbClr val="A6D89B"/>
          </a:solidFill>
          <a:ln w="19050">
            <a:solidFill>
              <a:srgbClr val="3E8E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reeform 48"/>
          <p:cNvSpPr/>
          <p:nvPr/>
        </p:nvSpPr>
        <p:spPr>
          <a:xfrm>
            <a:off x="9011595" y="4543562"/>
            <a:ext cx="612282" cy="340157"/>
          </a:xfrm>
          <a:custGeom>
            <a:avLst/>
            <a:gdLst/>
            <a:ahLst/>
            <a:cxnLst/>
            <a:rect l="l" t="t" r="r" b="b"/>
            <a:pathLst>
              <a:path w="612282" h="340157">
                <a:moveTo>
                  <a:pt x="0" y="0"/>
                </a:moveTo>
                <a:lnTo>
                  <a:pt x="385511" y="0"/>
                </a:lnTo>
                <a:lnTo>
                  <a:pt x="612282" y="170079"/>
                </a:lnTo>
                <a:lnTo>
                  <a:pt x="385511" y="340157"/>
                </a:lnTo>
                <a:lnTo>
                  <a:pt x="0" y="340157"/>
                </a:lnTo>
                <a:close/>
              </a:path>
            </a:pathLst>
          </a:custGeom>
          <a:solidFill>
            <a:srgbClr val="F6D9D5"/>
          </a:solidFill>
          <a:ln w="2159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 49"/>
          <p:cNvSpPr/>
          <p:nvPr/>
        </p:nvSpPr>
        <p:spPr>
          <a:xfrm>
            <a:off x="9193012" y="4639940"/>
            <a:ext cx="170078" cy="147401"/>
          </a:xfrm>
          <a:custGeom>
            <a:avLst/>
            <a:gdLst/>
            <a:ahLst/>
            <a:cxnLst/>
            <a:rect l="l" t="t" r="r" b="b"/>
            <a:pathLst>
              <a:path w="170078" h="147401">
                <a:moveTo>
                  <a:pt x="0" y="0"/>
                </a:moveTo>
                <a:lnTo>
                  <a:pt x="170078" y="0"/>
                </a:lnTo>
                <a:lnTo>
                  <a:pt x="170078" y="147401"/>
                </a:lnTo>
                <a:lnTo>
                  <a:pt x="0" y="147401"/>
                </a:lnTo>
                <a:close/>
              </a:path>
            </a:pathLst>
          </a:custGeom>
          <a:solidFill>
            <a:srgbClr val="E3A59E"/>
          </a:solidFill>
          <a:ln w="6350">
            <a:solidFill>
              <a:srgbClr val="E3A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98605" y="45034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cradle walls  ∈ F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872984" y="4640123"/>
            <a:ext cx="526694" cy="91897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070494" y="5201839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3E8E3E"/>
                </a:solidFill>
                <a:latin typeface="Arial"/>
              </a:rPr>
              <a:t>target set  T  (aligned entry, gentle velocity)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9835" y="520183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1">
                <a:solidFill>
                  <a:srgbClr val="666666"/>
                </a:solidFill>
                <a:latin typeface="Arial"/>
              </a:rPr>
              <a:t>cradle region (zoom)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4457700"/>
            <a:ext cx="3108960" cy="777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/>
            <a:r>
              <a:rPr sz="1350" b="1">
                <a:solidFill>
                  <a:srgbClr val="2E6DA4"/>
                </a:solidFill>
                <a:latin typeface="Arial"/>
              </a:rPr>
              <a:t>Phase 1 · Approach / DP</a:t>
            </a:r>
          </a:p>
          <a:p>
            <a:pPr algn="l"/>
            <a:r>
              <a:rPr sz="1100">
                <a:solidFill>
                  <a:srgbClr val="333333"/>
                </a:solidFill>
                <a:latin typeface="Arial"/>
              </a:rPr>
              <a:t>Method : DOB-MPC w RaCBF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2286000" y="3520440"/>
            <a:ext cx="320040" cy="932688"/>
          </a:xfrm>
          <a:prstGeom prst="line">
            <a:avLst/>
          </a:prstGeom>
          <a:ln w="1270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57200" y="5340096"/>
            <a:ext cx="33832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/>
            <a:r>
              <a:rPr sz="1350" b="1">
                <a:solidFill>
                  <a:srgbClr val="C0392B"/>
                </a:solidFill>
                <a:latin typeface="Arial"/>
              </a:rPr>
              <a:t>Phase 2 · Docking</a:t>
            </a:r>
          </a:p>
          <a:p>
            <a:pPr algn="l"/>
            <a:r>
              <a:rPr sz="1100">
                <a:solidFill>
                  <a:srgbClr val="333333"/>
                </a:solidFill>
                <a:latin typeface="Arial"/>
              </a:rPr>
              <a:t>Method : Robust reach avoid RL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3840480" y="2834640"/>
            <a:ext cx="1828800" cy="269748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E6A28-E52B-B835-9768-FF77F1905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자유형: 도형 130">
            <a:extLst>
              <a:ext uri="{FF2B5EF4-FFF2-40B4-BE49-F238E27FC236}">
                <a16:creationId xmlns:a16="http://schemas.microsoft.com/office/drawing/2014/main" id="{D0F675B2-8E45-E963-5A6C-6526A778AB9C}"/>
              </a:ext>
            </a:extLst>
          </p:cNvPr>
          <p:cNvSpPr/>
          <p:nvPr/>
        </p:nvSpPr>
        <p:spPr>
          <a:xfrm>
            <a:off x="4417637" y="1793041"/>
            <a:ext cx="3587553" cy="1419722"/>
          </a:xfrm>
          <a:custGeom>
            <a:avLst/>
            <a:gdLst>
              <a:gd name="csX0" fmla="*/ 2577523 w 3587553"/>
              <a:gd name="csY0" fmla="*/ 15439 h 1419722"/>
              <a:gd name="csX1" fmla="*/ 1856163 w 3587553"/>
              <a:gd name="csY1" fmla="*/ 25599 h 1419722"/>
              <a:gd name="csX2" fmla="*/ 1038283 w 3587553"/>
              <a:gd name="csY2" fmla="*/ 40839 h 1419722"/>
              <a:gd name="csX3" fmla="*/ 393123 w 3587553"/>
              <a:gd name="csY3" fmla="*/ 132279 h 1419722"/>
              <a:gd name="csX4" fmla="*/ 83243 w 3587553"/>
              <a:gd name="csY4" fmla="*/ 401519 h 1419722"/>
              <a:gd name="csX5" fmla="*/ 7043 w 3587553"/>
              <a:gd name="csY5" fmla="*/ 848559 h 1419722"/>
              <a:gd name="csX6" fmla="*/ 220403 w 3587553"/>
              <a:gd name="csY6" fmla="*/ 1280359 h 1419722"/>
              <a:gd name="csX7" fmla="*/ 941763 w 3587553"/>
              <a:gd name="csY7" fmla="*/ 1402279 h 1419722"/>
              <a:gd name="csX8" fmla="*/ 1612323 w 3587553"/>
              <a:gd name="csY8" fmla="*/ 950159 h 1419722"/>
              <a:gd name="csX9" fmla="*/ 2084763 w 3587553"/>
              <a:gd name="csY9" fmla="*/ 538679 h 1419722"/>
              <a:gd name="csX10" fmla="*/ 2648643 w 3587553"/>
              <a:gd name="csY10" fmla="*/ 426919 h 1419722"/>
              <a:gd name="csX11" fmla="*/ 3380163 w 3587553"/>
              <a:gd name="csY11" fmla="*/ 431999 h 1419722"/>
              <a:gd name="csX12" fmla="*/ 3568123 w 3587553"/>
              <a:gd name="csY12" fmla="*/ 264359 h 1419722"/>
              <a:gd name="csX13" fmla="*/ 3552883 w 3587553"/>
              <a:gd name="csY13" fmla="*/ 101799 h 1419722"/>
              <a:gd name="csX14" fmla="*/ 3314123 w 3587553"/>
              <a:gd name="csY14" fmla="*/ 5279 h 1419722"/>
              <a:gd name="csX15" fmla="*/ 2877243 w 3587553"/>
              <a:gd name="csY15" fmla="*/ 10359 h 1419722"/>
              <a:gd name="csX16" fmla="*/ 2577523 w 3587553"/>
              <a:gd name="csY16" fmla="*/ 15439 h 1419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87553" h="1419722">
                <a:moveTo>
                  <a:pt x="2577523" y="15439"/>
                </a:moveTo>
                <a:lnTo>
                  <a:pt x="1856163" y="25599"/>
                </a:lnTo>
                <a:cubicBezTo>
                  <a:pt x="1599623" y="29832"/>
                  <a:pt x="1282123" y="23059"/>
                  <a:pt x="1038283" y="40839"/>
                </a:cubicBezTo>
                <a:cubicBezTo>
                  <a:pt x="794443" y="58619"/>
                  <a:pt x="552296" y="72166"/>
                  <a:pt x="393123" y="132279"/>
                </a:cubicBezTo>
                <a:cubicBezTo>
                  <a:pt x="233950" y="192392"/>
                  <a:pt x="147590" y="282139"/>
                  <a:pt x="83243" y="401519"/>
                </a:cubicBezTo>
                <a:cubicBezTo>
                  <a:pt x="18896" y="520899"/>
                  <a:pt x="-15817" y="702086"/>
                  <a:pt x="7043" y="848559"/>
                </a:cubicBezTo>
                <a:cubicBezTo>
                  <a:pt x="29903" y="995032"/>
                  <a:pt x="64616" y="1188072"/>
                  <a:pt x="220403" y="1280359"/>
                </a:cubicBezTo>
                <a:cubicBezTo>
                  <a:pt x="376190" y="1372646"/>
                  <a:pt x="709776" y="1457312"/>
                  <a:pt x="941763" y="1402279"/>
                </a:cubicBezTo>
                <a:cubicBezTo>
                  <a:pt x="1173750" y="1347246"/>
                  <a:pt x="1421823" y="1094092"/>
                  <a:pt x="1612323" y="950159"/>
                </a:cubicBezTo>
                <a:cubicBezTo>
                  <a:pt x="1802823" y="806226"/>
                  <a:pt x="1912043" y="625886"/>
                  <a:pt x="2084763" y="538679"/>
                </a:cubicBezTo>
                <a:cubicBezTo>
                  <a:pt x="2257483" y="451472"/>
                  <a:pt x="2432743" y="444699"/>
                  <a:pt x="2648643" y="426919"/>
                </a:cubicBezTo>
                <a:cubicBezTo>
                  <a:pt x="2864543" y="409139"/>
                  <a:pt x="3226916" y="459092"/>
                  <a:pt x="3380163" y="431999"/>
                </a:cubicBezTo>
                <a:cubicBezTo>
                  <a:pt x="3533410" y="404906"/>
                  <a:pt x="3539336" y="319392"/>
                  <a:pt x="3568123" y="264359"/>
                </a:cubicBezTo>
                <a:cubicBezTo>
                  <a:pt x="3596910" y="209326"/>
                  <a:pt x="3595216" y="144979"/>
                  <a:pt x="3552883" y="101799"/>
                </a:cubicBezTo>
                <a:cubicBezTo>
                  <a:pt x="3510550" y="58619"/>
                  <a:pt x="3426730" y="20519"/>
                  <a:pt x="3314123" y="5279"/>
                </a:cubicBezTo>
                <a:cubicBezTo>
                  <a:pt x="3201516" y="-9961"/>
                  <a:pt x="3002550" y="12899"/>
                  <a:pt x="2877243" y="10359"/>
                </a:cubicBezTo>
                <a:lnTo>
                  <a:pt x="2577523" y="15439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3165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13FACF93-DC75-6639-648F-474054E7D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624201" y="1331735"/>
            <a:ext cx="1526475" cy="1374889"/>
          </a:xfrm>
          <a:prstGeom prst="rect">
            <a:avLst/>
          </a:prstGeom>
        </p:spPr>
      </p:pic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3FEFD46-0815-C9F4-0D3E-1A3852F63231}"/>
              </a:ext>
            </a:extLst>
          </p:cNvPr>
          <p:cNvCxnSpPr/>
          <p:nvPr/>
        </p:nvCxnSpPr>
        <p:spPr>
          <a:xfrm>
            <a:off x="5212080" y="269240"/>
            <a:ext cx="2743200" cy="0"/>
          </a:xfrm>
          <a:prstGeom prst="line">
            <a:avLst/>
          </a:prstGeom>
          <a:ln w="38100">
            <a:solidFill>
              <a:srgbClr val="3040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A435FE-8618-A334-8C16-2369EDB72E31}"/>
              </a:ext>
            </a:extLst>
          </p:cNvPr>
          <p:cNvSpPr txBox="1"/>
          <p:nvPr/>
        </p:nvSpPr>
        <p:spPr>
          <a:xfrm>
            <a:off x="4663440" y="-1148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04055"/>
                </a:solidFill>
                <a:latin typeface="Arial"/>
              </a:rPr>
              <a:t>Vₛ   (mothership advances)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BB39B8-992D-A1D7-83F1-2D5DF624FE2E}"/>
              </a:ext>
            </a:extLst>
          </p:cNvPr>
          <p:cNvSpPr/>
          <p:nvPr/>
        </p:nvSpPr>
        <p:spPr>
          <a:xfrm>
            <a:off x="1559560" y="1609344"/>
            <a:ext cx="10629392" cy="91440"/>
          </a:xfrm>
          <a:prstGeom prst="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7F11AEEF-9A02-EC64-71D1-FF4A6FD0F7B8}"/>
              </a:ext>
            </a:extLst>
          </p:cNvPr>
          <p:cNvCxnSpPr>
            <a:cxnSpLocks/>
          </p:cNvCxnSpPr>
          <p:nvPr/>
        </p:nvCxnSpPr>
        <p:spPr>
          <a:xfrm>
            <a:off x="1559560" y="1700784"/>
            <a:ext cx="10629392" cy="0"/>
          </a:xfrm>
          <a:prstGeom prst="line">
            <a:avLst/>
          </a:prstGeom>
          <a:ln w="3302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373DAF-BEA1-4EB3-7F0E-FE2CF2EB5749}"/>
              </a:ext>
            </a:extLst>
          </p:cNvPr>
          <p:cNvSpPr txBox="1"/>
          <p:nvPr/>
        </p:nvSpPr>
        <p:spPr>
          <a:xfrm>
            <a:off x="3869053" y="3236765"/>
            <a:ext cx="32918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1">
                <a:solidFill>
                  <a:srgbClr val="3E8E3E"/>
                </a:solidFill>
                <a:latin typeface="Arial"/>
              </a:rPr>
              <a:t>reach avoid set  (V(s) ≤ 0)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8E3F948-9B4E-B0E7-EDF5-08701C06A17F}"/>
              </a:ext>
            </a:extLst>
          </p:cNvPr>
          <p:cNvSpPr/>
          <p:nvPr/>
        </p:nvSpPr>
        <p:spPr>
          <a:xfrm>
            <a:off x="1920239" y="2263141"/>
            <a:ext cx="3129281" cy="1623693"/>
          </a:xfrm>
          <a:custGeom>
            <a:avLst/>
            <a:gdLst/>
            <a:ahLst/>
            <a:cxnLst/>
            <a:rect l="l" t="t" r="r" b="b"/>
            <a:pathLst>
              <a:path w="4526280" h="932688">
                <a:moveTo>
                  <a:pt x="0" y="932688"/>
                </a:moveTo>
                <a:lnTo>
                  <a:pt x="960120" y="658368"/>
                </a:lnTo>
                <a:lnTo>
                  <a:pt x="2057400" y="365760"/>
                </a:lnTo>
                <a:lnTo>
                  <a:pt x="3063240" y="146304"/>
                </a:lnTo>
                <a:lnTo>
                  <a:pt x="4160520" y="18288"/>
                </a:lnTo>
                <a:lnTo>
                  <a:pt x="4526280" y="0"/>
                </a:lnTo>
              </a:path>
            </a:pathLst>
          </a:custGeom>
          <a:noFill/>
          <a:ln w="38100">
            <a:solidFill>
              <a:srgbClr val="2E6DA4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DE39922-CCB5-D878-E98F-396D9B746BA5}"/>
              </a:ext>
            </a:extLst>
          </p:cNvPr>
          <p:cNvSpPr/>
          <p:nvPr/>
        </p:nvSpPr>
        <p:spPr>
          <a:xfrm>
            <a:off x="5454904" y="2025643"/>
            <a:ext cx="1992376" cy="168916"/>
          </a:xfrm>
          <a:custGeom>
            <a:avLst/>
            <a:gdLst/>
            <a:ahLst/>
            <a:cxnLst/>
            <a:rect l="l" t="t" r="r" b="b"/>
            <a:pathLst>
              <a:path w="4297680" h="182880">
                <a:moveTo>
                  <a:pt x="0" y="182880"/>
                </a:moveTo>
                <a:lnTo>
                  <a:pt x="1234440" y="109728"/>
                </a:lnTo>
                <a:lnTo>
                  <a:pt x="2423160" y="54864"/>
                </a:lnTo>
                <a:lnTo>
                  <a:pt x="3611880" y="18288"/>
                </a:lnTo>
                <a:lnTo>
                  <a:pt x="4297680" y="0"/>
                </a:lnTo>
              </a:path>
            </a:pathLst>
          </a:custGeom>
          <a:noFill/>
          <a:ln w="38100">
            <a:solidFill>
              <a:srgbClr val="C039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0728377-5E44-0468-523B-1F77CF50FC76}"/>
              </a:ext>
            </a:extLst>
          </p:cNvPr>
          <p:cNvGrpSpPr/>
          <p:nvPr/>
        </p:nvGrpSpPr>
        <p:grpSpPr>
          <a:xfrm>
            <a:off x="5171156" y="2135124"/>
            <a:ext cx="201168" cy="201168"/>
            <a:chOff x="5248656" y="2715768"/>
            <a:chExt cx="201168" cy="20116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E86195-FD30-6CCE-1514-416AD0ED3218}"/>
                </a:ext>
              </a:extLst>
            </p:cNvPr>
            <p:cNvSpPr/>
            <p:nvPr/>
          </p:nvSpPr>
          <p:spPr>
            <a:xfrm>
              <a:off x="5248656" y="2715768"/>
              <a:ext cx="201168" cy="201168"/>
            </a:xfrm>
            <a:prstGeom prst="ellipse">
              <a:avLst/>
            </a:prstGeom>
            <a:solidFill>
              <a:srgbClr val="FFFFFF"/>
            </a:solidFill>
            <a:ln w="17780">
              <a:solidFill>
                <a:srgbClr val="333333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50536D7-CEC7-DB8D-98C4-B1C750B52A9C}"/>
                </a:ext>
              </a:extLst>
            </p:cNvPr>
            <p:cNvSpPr/>
            <p:nvPr/>
          </p:nvSpPr>
          <p:spPr>
            <a:xfrm>
              <a:off x="5321808" y="2788920"/>
              <a:ext cx="54864" cy="5486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68AE48A-56F4-CDFC-A775-B2385DC65CDA}"/>
              </a:ext>
            </a:extLst>
          </p:cNvPr>
          <p:cNvSpPr txBox="1"/>
          <p:nvPr/>
        </p:nvSpPr>
        <p:spPr>
          <a:xfrm>
            <a:off x="4448780" y="2272285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2E6DA4"/>
                </a:solidFill>
                <a:latin typeface="Arial"/>
              </a:rPr>
              <a:t>DP 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D61342-A978-517E-33B3-BBB75958B547}"/>
              </a:ext>
            </a:extLst>
          </p:cNvPr>
          <p:cNvSpPr txBox="1"/>
          <p:nvPr/>
        </p:nvSpPr>
        <p:spPr>
          <a:xfrm>
            <a:off x="9948672" y="17373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Cradle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9E1E059-E28D-B350-AA21-08D97FA463EC}"/>
              </a:ext>
            </a:extLst>
          </p:cNvPr>
          <p:cNvSpPr/>
          <p:nvPr/>
        </p:nvSpPr>
        <p:spPr>
          <a:xfrm>
            <a:off x="2638169" y="4180136"/>
            <a:ext cx="26466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/>
            <a:r>
              <a:rPr sz="1350" b="1">
                <a:solidFill>
                  <a:srgbClr val="2E6DA4"/>
                </a:solidFill>
                <a:latin typeface="Arial"/>
              </a:rPr>
              <a:t>Phase 1 · Approach / DP</a:t>
            </a:r>
          </a:p>
          <a:p>
            <a:pPr algn="l"/>
            <a:r>
              <a:rPr sz="1100">
                <a:solidFill>
                  <a:srgbClr val="333333"/>
                </a:solidFill>
                <a:latin typeface="Arial"/>
              </a:rPr>
              <a:t>Method : DOB-MPC w RaCBF</a:t>
            </a:r>
          </a:p>
        </p:txBody>
      </p:sp>
      <p:cxnSp>
        <p:nvCxnSpPr>
          <p:cNvPr id="56" name="Connector 55">
            <a:extLst>
              <a:ext uri="{FF2B5EF4-FFF2-40B4-BE49-F238E27FC236}">
                <a16:creationId xmlns:a16="http://schemas.microsoft.com/office/drawing/2014/main" id="{54173DD8-5377-CE1C-9721-7A58896FF512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3961509" y="2798762"/>
            <a:ext cx="53894" cy="1381374"/>
          </a:xfrm>
          <a:prstGeom prst="line">
            <a:avLst/>
          </a:prstGeom>
          <a:ln w="1270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F4B4A3A-D2E5-23BB-30B6-D08550498433}"/>
              </a:ext>
            </a:extLst>
          </p:cNvPr>
          <p:cNvSpPr/>
          <p:nvPr/>
        </p:nvSpPr>
        <p:spPr>
          <a:xfrm>
            <a:off x="6206520" y="4166098"/>
            <a:ext cx="26466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/>
            <a:r>
              <a:rPr sz="1350" b="1">
                <a:solidFill>
                  <a:srgbClr val="C0392B"/>
                </a:solidFill>
                <a:latin typeface="Arial"/>
              </a:rPr>
              <a:t>Phase 2 · Docking</a:t>
            </a:r>
          </a:p>
          <a:p>
            <a:pPr algn="l"/>
            <a:r>
              <a:rPr sz="1100">
                <a:solidFill>
                  <a:srgbClr val="333333"/>
                </a:solidFill>
                <a:latin typeface="Arial"/>
              </a:rPr>
              <a:t>Method : Robust reach avoid RL</a:t>
            </a:r>
          </a:p>
        </p:txBody>
      </p: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B95ECA1F-BDEF-A98B-EDA9-BA7F9635612A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6330029" y="2333223"/>
            <a:ext cx="1199831" cy="1832875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그림 60">
            <a:extLst>
              <a:ext uri="{FF2B5EF4-FFF2-40B4-BE49-F238E27FC236}">
                <a16:creationId xmlns:a16="http://schemas.microsoft.com/office/drawing/2014/main" id="{883BAE08-957C-1E71-D49A-D6A98D467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5" t="5994" r="4938" b="66394"/>
          <a:stretch>
            <a:fillRect/>
          </a:stretch>
        </p:blipFill>
        <p:spPr>
          <a:xfrm>
            <a:off x="4294066" y="398512"/>
            <a:ext cx="6186746" cy="1242589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71AE7082-E866-3631-951D-8CDCD175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92" t="79073" r="57408" b="8050"/>
          <a:stretch>
            <a:fillRect/>
          </a:stretch>
        </p:blipFill>
        <p:spPr>
          <a:xfrm rot="20514241">
            <a:off x="1642438" y="3627212"/>
            <a:ext cx="1008240" cy="329871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93F66D66-3BE8-07A9-831B-46B5EFB8C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92" t="79073" r="57408" b="8050"/>
          <a:stretch>
            <a:fillRect/>
          </a:stretch>
        </p:blipFill>
        <p:spPr>
          <a:xfrm rot="20594310">
            <a:off x="3103357" y="2549342"/>
            <a:ext cx="1008240" cy="329871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63E96745-3C56-DF2E-2B29-542D44D0CC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92" t="79073" r="57408" b="8050"/>
          <a:stretch>
            <a:fillRect/>
          </a:stretch>
        </p:blipFill>
        <p:spPr>
          <a:xfrm rot="21263084">
            <a:off x="5843188" y="1916738"/>
            <a:ext cx="1008240" cy="329871"/>
          </a:xfrm>
          <a:prstGeom prst="rect">
            <a:avLst/>
          </a:prstGeom>
        </p:spPr>
      </p:pic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EC4D1173-50B8-FB43-9ABD-E5B3C1C6773C}"/>
              </a:ext>
            </a:extLst>
          </p:cNvPr>
          <p:cNvGrpSpPr/>
          <p:nvPr/>
        </p:nvGrpSpPr>
        <p:grpSpPr>
          <a:xfrm>
            <a:off x="8344916" y="2515132"/>
            <a:ext cx="3538489" cy="1328342"/>
            <a:chOff x="7619108" y="3018448"/>
            <a:chExt cx="4374738" cy="1642268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0EEBA7F7-2C90-20E4-BFDE-273BCA72CB8A}"/>
                </a:ext>
              </a:extLst>
            </p:cNvPr>
            <p:cNvSpPr/>
            <p:nvPr/>
          </p:nvSpPr>
          <p:spPr>
            <a:xfrm>
              <a:off x="7619108" y="3018448"/>
              <a:ext cx="4325946" cy="1628953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38202AF-2449-538A-8694-561A42B05DC2}"/>
                </a:ext>
              </a:extLst>
            </p:cNvPr>
            <p:cNvSpPr txBox="1"/>
            <p:nvPr/>
          </p:nvSpPr>
          <p:spPr>
            <a:xfrm>
              <a:off x="7675879" y="3468445"/>
              <a:ext cx="1563928" cy="1997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1" dirty="0">
                  <a:solidFill>
                    <a:srgbClr val="C0392B"/>
                  </a:solidFill>
                  <a:latin typeface="Arial"/>
                </a:rPr>
                <a:t>side boundary ∈ F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FA0D53B-4563-1417-900B-0BEF02EEE23A}"/>
                </a:ext>
              </a:extLst>
            </p:cNvPr>
            <p:cNvSpPr txBox="1"/>
            <p:nvPr/>
          </p:nvSpPr>
          <p:spPr>
            <a:xfrm>
              <a:off x="10256486" y="4203516"/>
              <a:ext cx="173736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 dirty="0">
                  <a:solidFill>
                    <a:srgbClr val="C0392B"/>
                  </a:solidFill>
                  <a:latin typeface="Arial"/>
                </a:rPr>
                <a:t>cradle walls  ∈ F</a:t>
              </a: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F0450F82-CC08-EA1E-8777-9CFA82134FD8}"/>
                </a:ext>
              </a:extLst>
            </p:cNvPr>
            <p:cNvGrpSpPr/>
            <p:nvPr/>
          </p:nvGrpSpPr>
          <p:grpSpPr>
            <a:xfrm>
              <a:off x="9610317" y="3440897"/>
              <a:ext cx="1772290" cy="871097"/>
              <a:chOff x="7609842" y="3689133"/>
              <a:chExt cx="2338830" cy="1149557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DBD66AA6-2578-D289-6CCA-E422E1496EF0}"/>
                  </a:ext>
                </a:extLst>
              </p:cNvPr>
              <p:cNvGrpSpPr/>
              <p:nvPr/>
            </p:nvGrpSpPr>
            <p:grpSpPr>
              <a:xfrm>
                <a:off x="7614075" y="3689133"/>
                <a:ext cx="2334597" cy="1149557"/>
                <a:chOff x="7447280" y="3841662"/>
                <a:chExt cx="2334597" cy="1149557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D25F8341-DA89-F3A7-409F-81BFE6AF69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20686" b="23574"/>
                <a:stretch>
                  <a:fillRect/>
                </a:stretch>
              </p:blipFill>
              <p:spPr>
                <a:xfrm rot="10800000">
                  <a:off x="7447280" y="3850128"/>
                  <a:ext cx="2272876" cy="1141091"/>
                </a:xfrm>
                <a:prstGeom prst="rect">
                  <a:avLst/>
                </a:prstGeom>
              </p:spPr>
            </p:pic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512C4FC6-179E-7D9D-64E8-27A745264EB8}"/>
                    </a:ext>
                  </a:extLst>
                </p:cNvPr>
                <p:cNvSpPr/>
                <p:nvPr/>
              </p:nvSpPr>
              <p:spPr>
                <a:xfrm>
                  <a:off x="7447280" y="3841662"/>
                  <a:ext cx="2334597" cy="1141092"/>
                </a:xfrm>
                <a:custGeom>
                  <a:avLst/>
                  <a:gdLst>
                    <a:gd name="csX0" fmla="*/ 1815251 w 2334597"/>
                    <a:gd name="csY0" fmla="*/ 0 h 1141092"/>
                    <a:gd name="csX1" fmla="*/ 2334597 w 2334597"/>
                    <a:gd name="csY1" fmla="*/ 0 h 1141092"/>
                    <a:gd name="csX2" fmla="*/ 2334597 w 2334597"/>
                    <a:gd name="csY2" fmla="*/ 1141092 h 1141092"/>
                    <a:gd name="csX3" fmla="*/ 2332567 w 2334597"/>
                    <a:gd name="csY3" fmla="*/ 1141092 h 1141092"/>
                    <a:gd name="csX4" fmla="*/ 1815251 w 2334597"/>
                    <a:gd name="csY4" fmla="*/ 1141092 h 1141092"/>
                    <a:gd name="csX5" fmla="*/ 0 w 2334597"/>
                    <a:gd name="csY5" fmla="*/ 1141092 h 1141092"/>
                    <a:gd name="csX6" fmla="*/ 0 w 2334597"/>
                    <a:gd name="csY6" fmla="*/ 778422 h 1141092"/>
                    <a:gd name="csX7" fmla="*/ 1815251 w 2334597"/>
                    <a:gd name="csY7" fmla="*/ 778422 h 1141092"/>
                    <a:gd name="csX8" fmla="*/ 1815251 w 2334597"/>
                    <a:gd name="csY8" fmla="*/ 362671 h 1141092"/>
                    <a:gd name="csX9" fmla="*/ 0 w 2334597"/>
                    <a:gd name="csY9" fmla="*/ 362671 h 1141092"/>
                    <a:gd name="csX10" fmla="*/ 0 w 2334597"/>
                    <a:gd name="csY10" fmla="*/ 1 h 1141092"/>
                    <a:gd name="csX11" fmla="*/ 1815251 w 2334597"/>
                    <a:gd name="csY11" fmla="*/ 1 h 11410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2334597" h="1141092">
                      <a:moveTo>
                        <a:pt x="1815251" y="0"/>
                      </a:moveTo>
                      <a:lnTo>
                        <a:pt x="2334597" y="0"/>
                      </a:lnTo>
                      <a:lnTo>
                        <a:pt x="2334597" y="1141092"/>
                      </a:lnTo>
                      <a:lnTo>
                        <a:pt x="2332567" y="1141092"/>
                      </a:lnTo>
                      <a:lnTo>
                        <a:pt x="1815251" y="1141092"/>
                      </a:lnTo>
                      <a:lnTo>
                        <a:pt x="0" y="1141092"/>
                      </a:lnTo>
                      <a:lnTo>
                        <a:pt x="0" y="778422"/>
                      </a:lnTo>
                      <a:lnTo>
                        <a:pt x="1815251" y="778422"/>
                      </a:lnTo>
                      <a:lnTo>
                        <a:pt x="1815251" y="362671"/>
                      </a:lnTo>
                      <a:lnTo>
                        <a:pt x="0" y="362671"/>
                      </a:lnTo>
                      <a:lnTo>
                        <a:pt x="0" y="1"/>
                      </a:lnTo>
                      <a:lnTo>
                        <a:pt x="1815251" y="1"/>
                      </a:lnTo>
                      <a:close/>
                    </a:path>
                  </a:pathLst>
                </a:custGeom>
                <a:solidFill>
                  <a:schemeClr val="accent6">
                    <a:lumMod val="40000"/>
                    <a:lumOff val="60000"/>
                    <a:alpha val="51000"/>
                  </a:schemeClr>
                </a:solidFill>
                <a:ln>
                  <a:solidFill>
                    <a:srgbClr val="FF6600"/>
                  </a:solidFill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</p:grp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6F61FD2A-63A4-591F-7E15-EAE37CC0E3C7}"/>
                  </a:ext>
                </a:extLst>
              </p:cNvPr>
              <p:cNvSpPr/>
              <p:nvPr/>
            </p:nvSpPr>
            <p:spPr>
              <a:xfrm>
                <a:off x="7609842" y="4092811"/>
                <a:ext cx="1775459" cy="3298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C8146ABF-E913-B1AB-2CDA-32CA10753CB8}"/>
                </a:ext>
              </a:extLst>
            </p:cNvPr>
            <p:cNvGrpSpPr/>
            <p:nvPr/>
          </p:nvGrpSpPr>
          <p:grpSpPr>
            <a:xfrm rot="21238330">
              <a:off x="8452894" y="3780929"/>
              <a:ext cx="1185669" cy="387770"/>
              <a:chOff x="6083109" y="4170560"/>
              <a:chExt cx="1564687" cy="511727"/>
            </a:xfrm>
          </p:grpSpPr>
          <p:pic>
            <p:nvPicPr>
              <p:cNvPr id="82" name="그림 81">
                <a:extLst>
                  <a:ext uri="{FF2B5EF4-FFF2-40B4-BE49-F238E27FC236}">
                    <a16:creationId xmlns:a16="http://schemas.microsoft.com/office/drawing/2014/main" id="{A6CF955F-5F3C-4C05-0B43-7FFE00BE1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0392" t="79073" r="57408" b="8050"/>
              <a:stretch>
                <a:fillRect/>
              </a:stretch>
            </p:blipFill>
            <p:spPr>
              <a:xfrm rot="21278377">
                <a:off x="6083109" y="4170560"/>
                <a:ext cx="1564077" cy="511727"/>
              </a:xfrm>
              <a:prstGeom prst="rect">
                <a:avLst/>
              </a:prstGeom>
            </p:spPr>
          </p:pic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346891C5-9981-E578-9C5D-045380BD025B}"/>
                  </a:ext>
                </a:extLst>
              </p:cNvPr>
              <p:cNvSpPr/>
              <p:nvPr/>
            </p:nvSpPr>
            <p:spPr>
              <a:xfrm flipH="1">
                <a:off x="7573423" y="4308006"/>
                <a:ext cx="74373" cy="7437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97" name="Connector 9">
              <a:extLst>
                <a:ext uri="{FF2B5EF4-FFF2-40B4-BE49-F238E27FC236}">
                  <a16:creationId xmlns:a16="http://schemas.microsoft.com/office/drawing/2014/main" id="{E275C861-9756-3EF4-6723-7A70B679B381}"/>
                </a:ext>
              </a:extLst>
            </p:cNvPr>
            <p:cNvCxnSpPr>
              <a:cxnSpLocks/>
            </p:cNvCxnSpPr>
            <p:nvPr/>
          </p:nvCxnSpPr>
          <p:spPr>
            <a:xfrm>
              <a:off x="7899150" y="3440897"/>
              <a:ext cx="1670666" cy="0"/>
            </a:xfrm>
            <a:prstGeom prst="line">
              <a:avLst/>
            </a:prstGeom>
            <a:ln w="25400">
              <a:solidFill>
                <a:srgbClr val="FF6600"/>
              </a:solidFill>
              <a:prstDash val="dash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Connector 9">
              <a:extLst>
                <a:ext uri="{FF2B5EF4-FFF2-40B4-BE49-F238E27FC236}">
                  <a16:creationId xmlns:a16="http://schemas.microsoft.com/office/drawing/2014/main" id="{EE2B2BC7-052D-8386-057B-7CFE4FB23CFD}"/>
                </a:ext>
              </a:extLst>
            </p:cNvPr>
            <p:cNvCxnSpPr>
              <a:cxnSpLocks/>
            </p:cNvCxnSpPr>
            <p:nvPr/>
          </p:nvCxnSpPr>
          <p:spPr>
            <a:xfrm>
              <a:off x="11419059" y="3440897"/>
              <a:ext cx="337264" cy="0"/>
            </a:xfrm>
            <a:prstGeom prst="line">
              <a:avLst/>
            </a:prstGeom>
            <a:ln w="25400">
              <a:solidFill>
                <a:srgbClr val="FF6600"/>
              </a:solidFill>
              <a:prstDash val="dash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Rectangle 8">
              <a:extLst>
                <a:ext uri="{FF2B5EF4-FFF2-40B4-BE49-F238E27FC236}">
                  <a16:creationId xmlns:a16="http://schemas.microsoft.com/office/drawing/2014/main" id="{D63A9DB3-3BF9-CD46-3B75-88998D35A639}"/>
                </a:ext>
              </a:extLst>
            </p:cNvPr>
            <p:cNvSpPr/>
            <p:nvPr/>
          </p:nvSpPr>
          <p:spPr>
            <a:xfrm>
              <a:off x="7807841" y="3361380"/>
              <a:ext cx="3948481" cy="72140"/>
            </a:xfrm>
            <a:prstGeom prst="rect">
              <a:avLst/>
            </a:prstGeom>
            <a:solidFill>
              <a:srgbClr val="FBE9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9490E217-03EE-92A6-AFB3-CC4D16E14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016" t="25048" r="29812" b="66394"/>
            <a:stretch>
              <a:fillRect/>
            </a:stretch>
          </p:blipFill>
          <p:spPr>
            <a:xfrm>
              <a:off x="7619108" y="3028205"/>
              <a:ext cx="4325946" cy="410168"/>
            </a:xfrm>
            <a:custGeom>
              <a:avLst/>
              <a:gdLst>
                <a:gd name="csX0" fmla="*/ 271498 w 4325946"/>
                <a:gd name="csY0" fmla="*/ 0 h 410168"/>
                <a:gd name="csX1" fmla="*/ 4054448 w 4325946"/>
                <a:gd name="csY1" fmla="*/ 0 h 410168"/>
                <a:gd name="csX2" fmla="*/ 4325946 w 4325946"/>
                <a:gd name="csY2" fmla="*/ 271498 h 410168"/>
                <a:gd name="csX3" fmla="*/ 4325946 w 4325946"/>
                <a:gd name="csY3" fmla="*/ 410168 h 410168"/>
                <a:gd name="csX4" fmla="*/ 0 w 4325946"/>
                <a:gd name="csY4" fmla="*/ 410168 h 410168"/>
                <a:gd name="csX5" fmla="*/ 0 w 4325946"/>
                <a:gd name="csY5" fmla="*/ 271498 h 410168"/>
                <a:gd name="csX6" fmla="*/ 271498 w 4325946"/>
                <a:gd name="csY6" fmla="*/ 0 h 410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325946" h="410168">
                  <a:moveTo>
                    <a:pt x="271498" y="0"/>
                  </a:moveTo>
                  <a:lnTo>
                    <a:pt x="4054448" y="0"/>
                  </a:lnTo>
                  <a:cubicBezTo>
                    <a:pt x="4204392" y="0"/>
                    <a:pt x="4325946" y="121554"/>
                    <a:pt x="4325946" y="271498"/>
                  </a:cubicBezTo>
                  <a:lnTo>
                    <a:pt x="4325946" y="410168"/>
                  </a:lnTo>
                  <a:lnTo>
                    <a:pt x="0" y="410168"/>
                  </a:lnTo>
                  <a:lnTo>
                    <a:pt x="0" y="271498"/>
                  </a:lnTo>
                  <a:cubicBezTo>
                    <a:pt x="0" y="121554"/>
                    <a:pt x="121554" y="0"/>
                    <a:pt x="271498" y="0"/>
                  </a:cubicBezTo>
                  <a:close/>
                </a:path>
              </a:pathLst>
            </a:cu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43FFFBF-7D14-5601-0E75-3C81B9BE8DE1}"/>
                </a:ext>
              </a:extLst>
            </p:cNvPr>
            <p:cNvSpPr txBox="1"/>
            <p:nvPr/>
          </p:nvSpPr>
          <p:spPr>
            <a:xfrm>
              <a:off x="9765621" y="3718142"/>
              <a:ext cx="120953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i="0" dirty="0">
                  <a:solidFill>
                    <a:srgbClr val="3E8E3E"/>
                  </a:solidFill>
                  <a:latin typeface="Arial"/>
                </a:rPr>
                <a:t>target set  T </a:t>
              </a:r>
              <a:endParaRPr lang="ko-KR" alt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59275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135</Words>
  <Application>Microsoft Office PowerPoint</Application>
  <PresentationFormat>사용자 지정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박기용</cp:lastModifiedBy>
  <cp:revision>11</cp:revision>
  <dcterms:created xsi:type="dcterms:W3CDTF">2013-01-27T09:14:16Z</dcterms:created>
  <dcterms:modified xsi:type="dcterms:W3CDTF">2026-08-26T03:40:12Z</dcterms:modified>
  <cp:category/>
</cp:coreProperties>
</file>