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0350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03120" y="411480"/>
            <a:ext cx="10085832" cy="1188720"/>
          </a:xfrm>
          <a:prstGeom prst="rect">
            <a:avLst/>
          </a:prstGeom>
          <a:solidFill>
            <a:srgbClr val="C9CED4"/>
          </a:solidFill>
          <a:ln w="2032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480560" y="438912"/>
            <a:ext cx="128016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438912"/>
            <a:ext cx="109728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0" y="438912"/>
            <a:ext cx="2011680" cy="274320"/>
          </a:xfrm>
          <a:prstGeom prst="rect">
            <a:avLst/>
          </a:prstGeom>
          <a:solidFill>
            <a:srgbClr val="B9C0C8"/>
          </a:solidFill>
          <a:ln w="1270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106984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i="0" b="1">
                <a:solidFill>
                  <a:srgbClr val="555F6B"/>
                </a:solidFill>
                <a:latin typeface="Arial"/>
              </a:rPr>
              <a:t>Mothership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212080" y="228600"/>
            <a:ext cx="2743200" cy="0"/>
          </a:xfrm>
          <a:prstGeom prst="line">
            <a:avLst/>
          </a:prstGeom>
          <a:ln w="38100">
            <a:solidFill>
              <a:srgbClr val="3040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663440" y="-15544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i="0" b="1">
                <a:solidFill>
                  <a:srgbClr val="304055"/>
                </a:solidFill>
                <a:latin typeface="Arial"/>
              </a:rPr>
              <a:t>Vₛ   (mothership advances)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609344"/>
            <a:ext cx="12188952" cy="91440"/>
          </a:xfrm>
          <a:prstGeom prst="rect">
            <a:avLst/>
          </a:prstGeom>
          <a:solidFill>
            <a:srgbClr val="FBE9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0" y="1700784"/>
            <a:ext cx="12188952" cy="0"/>
          </a:xfrm>
          <a:prstGeom prst="line">
            <a:avLst/>
          </a:prstGeom>
          <a:ln w="33020">
            <a:solidFill>
              <a:srgbClr val="E8A33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20040" y="169164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i="1" b="0">
                <a:solidFill>
                  <a:srgbClr val="E8A33D"/>
                </a:solidFill>
                <a:latin typeface="Arial"/>
              </a:rPr>
              <a:t>mothership side boundary  ∈ 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2157984"/>
            <a:ext cx="5943600" cy="1408176"/>
          </a:xfrm>
          <a:custGeom>
            <a:avLst/>
            <a:gdLst/>
            <a:ahLst/>
            <a:cxnLst/>
            <a:rect l="0" t="0" r="5943600" b="1408176"/>
            <a:pathLst>
              <a:path w="5943600" h="1408176">
                <a:moveTo>
                  <a:pt x="45720" y="813816"/>
                </a:moveTo>
                <a:cubicBezTo>
                  <a:pt x="0" y="310896"/>
                  <a:pt x="502920" y="36576"/>
                  <a:pt x="1463040" y="18288"/>
                </a:cubicBezTo>
                <a:cubicBezTo>
                  <a:pt x="2926080" y="0"/>
                  <a:pt x="4434840" y="219456"/>
                  <a:pt x="5943600" y="493776"/>
                </a:cubicBezTo>
                <a:cubicBezTo>
                  <a:pt x="4434840" y="768096"/>
                  <a:pt x="2834640" y="1362456"/>
                  <a:pt x="1463040" y="1408176"/>
                </a:cubicBezTo>
                <a:cubicBezTo>
                  <a:pt x="502920" y="1408176"/>
                  <a:pt x="91440" y="1179576"/>
                  <a:pt x="45720" y="813816"/>
                </a:cubicBezTo>
                <a:close/>
              </a:path>
            </a:pathLst>
          </a:custGeom>
          <a:solidFill>
            <a:srgbClr val="BFE0B8">
              <a:alpha val="42000"/>
            </a:srgbClr>
          </a:solidFill>
          <a:ln w="25400">
            <a:solidFill>
              <a:srgbClr val="3E8E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341071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i="1" b="0">
                <a:solidFill>
                  <a:srgbClr val="3E8E3E"/>
                </a:solidFill>
                <a:latin typeface="Arial"/>
              </a:rPr>
              <a:t>reach avoid set  (V(s) ≤ 0)</a:t>
            </a:r>
          </a:p>
        </p:txBody>
      </p:sp>
      <p:sp>
        <p:nvSpPr>
          <p:cNvPr id="14" name="Freeform 13"/>
          <p:cNvSpPr/>
          <p:nvPr/>
        </p:nvSpPr>
        <p:spPr>
          <a:xfrm>
            <a:off x="868680" y="2816352"/>
            <a:ext cx="4526280" cy="932688"/>
          </a:xfrm>
          <a:custGeom>
            <a:avLst/>
            <a:gdLst/>
            <a:ahLst/>
            <a:cxnLst/>
            <a:rect l="l" t="t" r="r" b="b"/>
            <a:pathLst>
              <a:path w="4526280" h="932688">
                <a:moveTo>
                  <a:pt x="0" y="932688"/>
                </a:moveTo>
                <a:lnTo>
                  <a:pt x="960120" y="658368"/>
                </a:lnTo>
                <a:lnTo>
                  <a:pt x="2057400" y="365760"/>
                </a:lnTo>
                <a:lnTo>
                  <a:pt x="3063240" y="146304"/>
                </a:lnTo>
                <a:lnTo>
                  <a:pt x="4160520" y="18288"/>
                </a:lnTo>
                <a:lnTo>
                  <a:pt x="4526280" y="0"/>
                </a:lnTo>
              </a:path>
            </a:pathLst>
          </a:custGeom>
          <a:noFill/>
          <a:ln w="38100">
            <a:solidFill>
              <a:srgbClr val="2E6DA4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5715000" y="2615184"/>
            <a:ext cx="4297680" cy="182880"/>
          </a:xfrm>
          <a:custGeom>
            <a:avLst/>
            <a:gdLst/>
            <a:ahLst/>
            <a:cxnLst/>
            <a:rect l="l" t="t" r="r" b="b"/>
            <a:pathLst>
              <a:path w="4297680" h="182880">
                <a:moveTo>
                  <a:pt x="0" y="182880"/>
                </a:moveTo>
                <a:lnTo>
                  <a:pt x="1234440" y="109728"/>
                </a:lnTo>
                <a:lnTo>
                  <a:pt x="2423160" y="54864"/>
                </a:lnTo>
                <a:lnTo>
                  <a:pt x="3611880" y="18288"/>
                </a:lnTo>
                <a:lnTo>
                  <a:pt x="4297680" y="0"/>
                </a:lnTo>
              </a:path>
            </a:pathLst>
          </a:custGeom>
          <a:noFill/>
          <a:ln w="38100">
            <a:solidFill>
              <a:srgbClr val="C0392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48656" y="2715768"/>
            <a:ext cx="201168" cy="2011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33333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21808" y="2788920"/>
            <a:ext cx="54864" cy="54864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295144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i="0" b="1">
                <a:solidFill>
                  <a:srgbClr val="2E6DA4"/>
                </a:solidFill>
                <a:latin typeface="Arial"/>
              </a:rPr>
              <a:t>DP point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94976" y="2148840"/>
            <a:ext cx="1170432" cy="932688"/>
          </a:xfrm>
          <a:prstGeom prst="roundRect">
            <a:avLst/>
          </a:prstGeom>
          <a:noFill/>
          <a:ln w="38100">
            <a:solidFill>
              <a:srgbClr val="7C7C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48672" y="173736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i="0" b="1">
                <a:solidFill>
                  <a:srgbClr val="333333"/>
                </a:solidFill>
                <a:latin typeface="Arial"/>
              </a:rPr>
              <a:t>Cradle</a:t>
            </a:r>
          </a:p>
        </p:txBody>
      </p:sp>
      <p:sp>
        <p:nvSpPr>
          <p:cNvPr id="21" name="Freeform 20"/>
          <p:cNvSpPr/>
          <p:nvPr/>
        </p:nvSpPr>
        <p:spPr>
          <a:xfrm>
            <a:off x="778136" y="3557554"/>
            <a:ext cx="602672" cy="462677"/>
          </a:xfrm>
          <a:custGeom>
            <a:avLst/>
            <a:gdLst/>
            <a:ahLst/>
            <a:cxnLst/>
            <a:rect l="l" t="t" r="r" b="b"/>
            <a:pathLst>
              <a:path w="602672" h="462677">
                <a:moveTo>
                  <a:pt x="0" y="169372"/>
                </a:moveTo>
                <a:lnTo>
                  <a:pt x="332412" y="0"/>
                </a:lnTo>
                <a:lnTo>
                  <a:pt x="602672" y="47021"/>
                </a:lnTo>
                <a:lnTo>
                  <a:pt x="481859" y="293305"/>
                </a:lnTo>
                <a:lnTo>
                  <a:pt x="149446" y="462677"/>
                </a:lnTo>
                <a:close/>
              </a:path>
            </a:pathLst>
          </a:custGeom>
          <a:solidFill>
            <a:srgbClr val="EAF2FA"/>
          </a:solidFill>
          <a:ln w="2159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76908" y="3655601"/>
            <a:ext cx="211413" cy="201822"/>
          </a:xfrm>
          <a:custGeom>
            <a:avLst/>
            <a:gdLst/>
            <a:ahLst/>
            <a:cxnLst/>
            <a:rect l="l" t="t" r="r" b="b"/>
            <a:pathLst>
              <a:path w="211413" h="201822">
                <a:moveTo>
                  <a:pt x="0" y="74723"/>
                </a:moveTo>
                <a:lnTo>
                  <a:pt x="146653" y="0"/>
                </a:lnTo>
                <a:lnTo>
                  <a:pt x="211413" y="127099"/>
                </a:lnTo>
                <a:lnTo>
                  <a:pt x="64761" y="201822"/>
                </a:lnTo>
                <a:close/>
              </a:path>
            </a:pathLst>
          </a:custGeom>
          <a:solidFill>
            <a:srgbClr val="9DC3E6"/>
          </a:solidFill>
          <a:ln w="6350">
            <a:solidFill>
              <a:srgbClr val="9DC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333582" y="3100933"/>
            <a:ext cx="606575" cy="456011"/>
          </a:xfrm>
          <a:custGeom>
            <a:avLst/>
            <a:gdLst/>
            <a:ahLst/>
            <a:cxnLst/>
            <a:rect l="l" t="t" r="r" b="b"/>
            <a:pathLst>
              <a:path w="606575" h="456011">
                <a:moveTo>
                  <a:pt x="0" y="157669"/>
                </a:moveTo>
                <a:lnTo>
                  <a:pt x="338121" y="0"/>
                </a:lnTo>
                <a:lnTo>
                  <a:pt x="606575" y="56425"/>
                </a:lnTo>
                <a:lnTo>
                  <a:pt x="477240" y="298342"/>
                </a:lnTo>
                <a:lnTo>
                  <a:pt x="139119" y="456011"/>
                </a:lnTo>
                <a:close/>
              </a:path>
            </a:pathLst>
          </a:custGeom>
          <a:solidFill>
            <a:srgbClr val="EAF2FA"/>
          </a:solidFill>
          <a:ln w="2159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2532115" y="3199375"/>
            <a:ext cx="209456" cy="198842"/>
          </a:xfrm>
          <a:custGeom>
            <a:avLst/>
            <a:gdLst/>
            <a:ahLst/>
            <a:cxnLst/>
            <a:rect l="l" t="t" r="r" b="b"/>
            <a:pathLst>
              <a:path w="209456" h="198842">
                <a:moveTo>
                  <a:pt x="0" y="69560"/>
                </a:moveTo>
                <a:lnTo>
                  <a:pt x="149171" y="0"/>
                </a:lnTo>
                <a:lnTo>
                  <a:pt x="209456" y="129282"/>
                </a:lnTo>
                <a:lnTo>
                  <a:pt x="60285" y="198842"/>
                </a:lnTo>
                <a:close/>
              </a:path>
            </a:pathLst>
          </a:custGeom>
          <a:solidFill>
            <a:srgbClr val="9DC3E6"/>
          </a:solidFill>
          <a:ln w="6350">
            <a:solidFill>
              <a:srgbClr val="9DC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764162" y="2500513"/>
            <a:ext cx="600333" cy="348258"/>
          </a:xfrm>
          <a:custGeom>
            <a:avLst/>
            <a:gdLst/>
            <a:ahLst/>
            <a:cxnLst/>
            <a:rect l="l" t="t" r="r" b="b"/>
            <a:pathLst>
              <a:path w="600333" h="348258">
                <a:moveTo>
                  <a:pt x="0" y="19525"/>
                </a:moveTo>
                <a:lnTo>
                  <a:pt x="372564" y="0"/>
                </a:lnTo>
                <a:lnTo>
                  <a:pt x="600333" y="152881"/>
                </a:lnTo>
                <a:lnTo>
                  <a:pt x="389792" y="328733"/>
                </a:lnTo>
                <a:lnTo>
                  <a:pt x="17228" y="348258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44367" y="2595377"/>
            <a:ext cx="171832" cy="151065"/>
          </a:xfrm>
          <a:custGeom>
            <a:avLst/>
            <a:gdLst/>
            <a:ahLst/>
            <a:cxnLst/>
            <a:rect l="l" t="t" r="r" b="b"/>
            <a:pathLst>
              <a:path w="171832" h="151065">
                <a:moveTo>
                  <a:pt x="0" y="8614"/>
                </a:moveTo>
                <a:lnTo>
                  <a:pt x="164367" y="0"/>
                </a:lnTo>
                <a:lnTo>
                  <a:pt x="171832" y="142451"/>
                </a:lnTo>
                <a:lnTo>
                  <a:pt x="7466" y="151065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10147009" y="2448894"/>
            <a:ext cx="595314" cy="335644"/>
          </a:xfrm>
          <a:custGeom>
            <a:avLst/>
            <a:gdLst/>
            <a:ahLst/>
            <a:cxnLst/>
            <a:rect l="l" t="t" r="r" b="b"/>
            <a:pathLst>
              <a:path w="595314" h="335644">
                <a:moveTo>
                  <a:pt x="0" y="6511"/>
                </a:moveTo>
                <a:lnTo>
                  <a:pt x="373019" y="0"/>
                </a:lnTo>
                <a:lnTo>
                  <a:pt x="595314" y="160736"/>
                </a:lnTo>
                <a:lnTo>
                  <a:pt x="378764" y="329133"/>
                </a:lnTo>
                <a:lnTo>
                  <a:pt x="5745" y="335644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324175" y="2542723"/>
            <a:ext cx="167057" cy="145497"/>
          </a:xfrm>
          <a:custGeom>
            <a:avLst/>
            <a:gdLst/>
            <a:ahLst/>
            <a:cxnLst/>
            <a:rect l="l" t="t" r="r" b="b"/>
            <a:pathLst>
              <a:path w="167057" h="145497">
                <a:moveTo>
                  <a:pt x="0" y="2872"/>
                </a:moveTo>
                <a:lnTo>
                  <a:pt x="164567" y="0"/>
                </a:lnTo>
                <a:lnTo>
                  <a:pt x="167057" y="142624"/>
                </a:lnTo>
                <a:lnTo>
                  <a:pt x="2490" y="145497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5-Point Star 28"/>
          <p:cNvSpPr/>
          <p:nvPr/>
        </p:nvSpPr>
        <p:spPr>
          <a:xfrm>
            <a:off x="10863072" y="2505456"/>
            <a:ext cx="219456" cy="219456"/>
          </a:xfrm>
          <a:prstGeom prst="star5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1018520" y="2743200"/>
            <a:ext cx="320040" cy="22860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853928" y="280720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i="0" b="1">
                <a:solidFill>
                  <a:srgbClr val="C0392B"/>
                </a:solidFill>
                <a:latin typeface="Arial"/>
              </a:rPr>
              <a:t>cradle center</a:t>
            </a:r>
          </a:p>
        </p:txBody>
      </p:sp>
      <p:sp>
        <p:nvSpPr>
          <p:cNvPr id="32" name="Freeform 31"/>
          <p:cNvSpPr/>
          <p:nvPr/>
        </p:nvSpPr>
        <p:spPr>
          <a:xfrm>
            <a:off x="320040" y="288950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320040" y="261518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320040" y="2340864"/>
            <a:ext cx="493776" cy="164592"/>
          </a:xfrm>
          <a:custGeom>
            <a:avLst/>
            <a:gdLst/>
            <a:ahLst/>
            <a:cxnLst/>
            <a:rect l="l" t="t" r="r" b="b"/>
            <a:pathLst>
              <a:path w="493776" h="164592">
                <a:moveTo>
                  <a:pt x="0" y="82296"/>
                </a:moveTo>
                <a:lnTo>
                  <a:pt x="164592" y="0"/>
                </a:lnTo>
                <a:lnTo>
                  <a:pt x="329184" y="164592"/>
                </a:lnTo>
                <a:lnTo>
                  <a:pt x="493776" y="82296"/>
                </a:lnTo>
              </a:path>
            </a:pathLst>
          </a:custGeom>
          <a:noFill/>
          <a:ln w="20320">
            <a:solidFill>
              <a:srgbClr val="2A8AA8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-45720" y="192024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i="0" b="1">
                <a:solidFill>
                  <a:srgbClr val="2A8AA8"/>
                </a:solidFill>
                <a:latin typeface="Arial"/>
              </a:rPr>
              <a:t>disturbance  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-137160" y="213055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i="1" b="0">
                <a:solidFill>
                  <a:srgbClr val="2A8AA8"/>
                </a:solidFill>
                <a:latin typeface="Arial"/>
              </a:rPr>
              <a:t>(wind, waves, current)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56648" y="1641348"/>
            <a:ext cx="1920240" cy="1508760"/>
          </a:xfrm>
          <a:prstGeom prst="rect">
            <a:avLst/>
          </a:prstGeom>
          <a:noFill/>
          <a:ln w="17780">
            <a:solidFill>
              <a:srgbClr val="999999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46520" y="3703320"/>
            <a:ext cx="5486400" cy="2057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H="1">
            <a:off x="6446520" y="3150108"/>
            <a:ext cx="3310128" cy="553212"/>
          </a:xfrm>
          <a:prstGeom prst="line">
            <a:avLst/>
          </a:prstGeom>
          <a:ln w="1397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76888" y="3150108"/>
            <a:ext cx="256032" cy="553212"/>
          </a:xfrm>
          <a:prstGeom prst="line">
            <a:avLst/>
          </a:prstGeom>
          <a:ln w="13970">
            <a:solidFill>
              <a:srgbClr val="99999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977604" y="3813048"/>
            <a:ext cx="4845588" cy="367588"/>
          </a:xfrm>
          <a:prstGeom prst="rect">
            <a:avLst/>
          </a:prstGeom>
          <a:solidFill>
            <a:srgbClr val="C9CED4"/>
          </a:solidFill>
          <a:ln w="15240">
            <a:solidFill>
              <a:srgbClr val="3A4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20" y="376824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i="0" b="1">
                <a:solidFill>
                  <a:srgbClr val="555F6B"/>
                </a:solidFill>
                <a:latin typeface="Arial"/>
              </a:rPr>
              <a:t>mothership side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56248" y="4180637"/>
            <a:ext cx="5266944" cy="0"/>
          </a:xfrm>
          <a:prstGeom prst="line">
            <a:avLst/>
          </a:prstGeom>
          <a:ln w="30480">
            <a:solidFill>
              <a:srgbClr val="C039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45788" y="409907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i="1" b="0">
                <a:solidFill>
                  <a:srgbClr val="C0392B"/>
                </a:solidFill>
                <a:latin typeface="Arial"/>
              </a:rPr>
              <a:t>side boundary ∈ 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47009" y="4217396"/>
            <a:ext cx="2844149" cy="183794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75142" y="4217396"/>
            <a:ext cx="316016" cy="992489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347009" y="5026091"/>
            <a:ext cx="2844149" cy="183794"/>
          </a:xfrm>
          <a:prstGeom prst="rect">
            <a:avLst/>
          </a:prstGeom>
          <a:solidFill>
            <a:srgbClr val="F6D9D5"/>
          </a:solidFill>
          <a:ln w="1778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63026" y="4474708"/>
            <a:ext cx="2106777" cy="477865"/>
          </a:xfrm>
          <a:prstGeom prst="rect">
            <a:avLst/>
          </a:prstGeom>
          <a:solidFill>
            <a:srgbClr val="A6D89B"/>
          </a:solidFill>
          <a:ln w="19050">
            <a:solidFill>
              <a:srgbClr val="3E8E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011595" y="4543562"/>
            <a:ext cx="612282" cy="340157"/>
          </a:xfrm>
          <a:custGeom>
            <a:avLst/>
            <a:gdLst/>
            <a:ahLst/>
            <a:cxnLst/>
            <a:rect l="l" t="t" r="r" b="b"/>
            <a:pathLst>
              <a:path w="612282" h="340157">
                <a:moveTo>
                  <a:pt x="0" y="0"/>
                </a:moveTo>
                <a:lnTo>
                  <a:pt x="385511" y="0"/>
                </a:lnTo>
                <a:lnTo>
                  <a:pt x="612282" y="170079"/>
                </a:lnTo>
                <a:lnTo>
                  <a:pt x="385511" y="340157"/>
                </a:lnTo>
                <a:lnTo>
                  <a:pt x="0" y="340157"/>
                </a:lnTo>
                <a:close/>
              </a:path>
            </a:pathLst>
          </a:custGeom>
          <a:solidFill>
            <a:srgbClr val="F6D9D5"/>
          </a:solidFill>
          <a:ln w="2159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9193012" y="4639940"/>
            <a:ext cx="170078" cy="147401"/>
          </a:xfrm>
          <a:custGeom>
            <a:avLst/>
            <a:gdLst/>
            <a:ahLst/>
            <a:cxnLst/>
            <a:rect l="l" t="t" r="r" b="b"/>
            <a:pathLst>
              <a:path w="170078" h="147401">
                <a:moveTo>
                  <a:pt x="0" y="0"/>
                </a:moveTo>
                <a:lnTo>
                  <a:pt x="170078" y="0"/>
                </a:lnTo>
                <a:lnTo>
                  <a:pt x="170078" y="147401"/>
                </a:lnTo>
                <a:lnTo>
                  <a:pt x="0" y="147401"/>
                </a:lnTo>
                <a:close/>
              </a:path>
            </a:pathLst>
          </a:custGeom>
          <a:solidFill>
            <a:srgbClr val="E3A59E"/>
          </a:solidFill>
          <a:ln w="6350">
            <a:solidFill>
              <a:srgbClr val="E3A5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8605" y="4503420"/>
            <a:ext cx="1737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i="0" b="1">
                <a:solidFill>
                  <a:srgbClr val="C0392B"/>
                </a:solidFill>
                <a:latin typeface="Arial"/>
              </a:rPr>
              <a:t>cradle walls  ∈ F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7872984" y="4640123"/>
            <a:ext cx="526694" cy="91897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070494" y="520183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i="0" b="1">
                <a:solidFill>
                  <a:srgbClr val="3E8E3E"/>
                </a:solidFill>
                <a:latin typeface="Arial"/>
              </a:rPr>
              <a:t>target set  T  (aligned entry, gentle velocity)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59835" y="5201839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i="1" b="0">
                <a:solidFill>
                  <a:srgbClr val="666666"/>
                </a:solidFill>
                <a:latin typeface="Arial"/>
              </a:rPr>
              <a:t>cradle region (zoom)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4457700"/>
            <a:ext cx="3108960" cy="7772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6D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/>
            <a:r>
              <a:rPr sz="1350" b="1">
                <a:solidFill>
                  <a:srgbClr val="2E6DA4"/>
                </a:solidFill>
                <a:latin typeface="Arial"/>
              </a:rPr>
              <a:t>Phase 1 · Approach / DP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DOB-MPC w RaCBF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2286000" y="3520440"/>
            <a:ext cx="320040" cy="932688"/>
          </a:xfrm>
          <a:prstGeom prst="line">
            <a:avLst/>
          </a:prstGeom>
          <a:ln w="12700">
            <a:solidFill>
              <a:srgbClr val="2E6DA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457200" y="5340096"/>
            <a:ext cx="3383280" cy="65836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/>
            <a:r>
              <a:rPr sz="1350" b="1">
                <a:solidFill>
                  <a:srgbClr val="C0392B"/>
                </a:solidFill>
                <a:latin typeface="Arial"/>
              </a:rPr>
              <a:t>Phase 2 · Docking</a:t>
            </a:r>
          </a:p>
          <a:p>
            <a:pPr algn="l"/>
            <a:r>
              <a:rPr sz="1100">
                <a:solidFill>
                  <a:srgbClr val="333333"/>
                </a:solidFill>
                <a:latin typeface="Arial"/>
              </a:rPr>
              <a:t>Method : Robust reach avoid RL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3840480" y="2834640"/>
            <a:ext cx="1828800" cy="2697480"/>
          </a:xfrm>
          <a:prstGeom prst="line">
            <a:avLst/>
          </a:prstGeom>
          <a:ln w="127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